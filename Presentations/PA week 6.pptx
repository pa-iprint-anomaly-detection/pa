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60DE-6A7A-0A98-C044-9B6A526E1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8985A-7703-5CE9-1C60-C7C0D8EB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B2DCB-EF0D-8454-C1CB-8881AA09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CBA9-7F9B-BCA7-C45E-24D4A1FD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8BB9A-80A3-BFBD-7396-5E58B4EB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0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43B6-2893-1A50-81C2-874C16FF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A1658-F5BC-99C5-7D2F-8D32EDA6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0F595-69C2-E908-17DC-78C45A26E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C437-C53C-C3F1-6E3D-2AC91CA8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8391-93BB-B1B0-0511-217BC113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5558-436A-79F7-DB3C-A9C3DB3E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D34CF-C42E-683B-A1B6-687837995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E043B-3F47-D8DC-09FD-38E111CE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828A8-A040-5BB3-C0FB-7E74BCB3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59108-3A77-9B43-5727-8AD890F4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68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7FAC-D46D-625E-7B64-6B78E479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4BFA-DB17-A913-6E30-3E7EEFE30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B886C-7DEA-5128-56B9-88E082E8E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8B011-51E3-2142-61F9-04A96519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F3023-D086-CF7F-8BCA-468C0A59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7BF9-7D12-88F8-7111-7736A1A5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02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38D0-B1C3-D263-9BA5-3A445031B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D2F21-A280-BF0E-3EEB-78B08D890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D3870-D241-1AD6-1BDF-A566BB4F2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81F4C-053B-2F39-7F3C-1930F573C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310AE-8BD0-E447-7E0A-5AD20E416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016FE-842D-A0F0-DA56-7889D51A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51BAB9-74B4-94A9-A533-CF98D1ED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47D8A-E331-9D59-719E-3DEDA5DA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56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F2BD-0B4C-3A92-9369-55C97099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782328-6BE2-E250-36FF-AAA7D7DF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48C09-2DD3-3A86-9693-9CAF853F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C2C44-AEA8-2CBF-0817-406796D1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01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A56BA-E92C-B405-B018-303D1EE0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95BCA-41ED-4168-3D72-95E18030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A032D-5367-A67E-23EA-86627D10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98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C79D-2C12-F00D-BE98-A5E7ABC5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D229E-57D0-3BB1-83BD-B078BCB35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4DB49-26BF-80CA-7E5C-3A6CABB77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D43BD-2C80-9C27-5215-A37ED4B3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76179-2FA3-0B0A-699C-7FAE121C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509B9-1F8D-ACCC-B004-835BC8E1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8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936B-3C00-0DBB-FFB1-79513912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A7640-E722-7E67-224B-76602E94A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E3F3F-FD30-2619-ED2D-A145EA343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E054D-EB1F-7EC1-6B38-663935E4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AFA42-56A7-D325-DBC6-7BC53D64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AB83B-2E68-8C99-B44F-2C3C113E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94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C7CC-28AA-AD87-0525-21B87A6F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F5589-BBF4-388B-2FE2-7B01DCE50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F8B75-8334-78D3-5894-7A7E3F78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D546-7EB8-5E4C-A732-95A43985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B5949-41AA-EF19-B2EA-7B8C298B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01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B4C56-44ED-8FCE-75C1-D79D9ADDD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924C9-3493-10AA-53D5-5FC2233C6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66FA7-78D3-650C-3874-B2A7393C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8E5E4-E098-E9B7-F636-8EAED886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8AC9E-878E-41B3-864E-864EA07F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79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BD304-0633-EF2C-EB43-65434C74A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CE70B-A5E9-6B2F-ED36-4680C9FFA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E2351-C79A-82E7-77B9-B32769ECA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CE50E-3129-4728-A28D-43D424826980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FF3C5-D985-3D19-6BB3-1957F25D8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754C3-9954-5354-23AF-E9091E739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D606A-CA15-4916-BA3F-39A95618E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865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4420-EA0F-53EF-5420-69E859220C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PA</a:t>
            </a:r>
            <a:br>
              <a:rPr lang="fr-CH" dirty="0"/>
            </a:br>
            <a:r>
              <a:rPr lang="fr-CH" dirty="0" err="1"/>
              <a:t>week</a:t>
            </a:r>
            <a:r>
              <a:rPr lang="fr-CH" dirty="0"/>
              <a:t> 6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508F7-6752-FBE3-80CA-1DC392E68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72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05DC-C172-DBB6-0267-0A95209F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7F7B-9FD6-DC35-E3C9-DB7A4E7C6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CH" dirty="0"/>
              <a:t>Data structure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/>
              <a:t>Feature</a:t>
            </a:r>
            <a:r>
              <a:rPr lang="fr-CH" dirty="0"/>
              <a:t> extraction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Isolation </a:t>
            </a:r>
            <a:r>
              <a:rPr lang="fr-CH" dirty="0" err="1"/>
              <a:t>forest</a:t>
            </a:r>
            <a:r>
              <a:rPr lang="fr-CH" dirty="0"/>
              <a:t> </a:t>
            </a:r>
            <a:r>
              <a:rPr lang="fr-CH" dirty="0" err="1"/>
              <a:t>explanation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Benchmark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Model </a:t>
            </a:r>
            <a:r>
              <a:rPr lang="fr-CH" dirty="0" err="1"/>
              <a:t>optimization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 err="1"/>
              <a:t>What</a:t>
            </a:r>
            <a:r>
              <a:rPr lang="fr-CH" dirty="0"/>
              <a:t> to look out for </a:t>
            </a:r>
            <a:r>
              <a:rPr lang="fr-CH" dirty="0" err="1"/>
              <a:t>next</a:t>
            </a:r>
            <a:r>
              <a:rPr lang="fr-CH" dirty="0"/>
              <a:t> </a:t>
            </a:r>
            <a:r>
              <a:rPr lang="fr-CH" dirty="0" err="1"/>
              <a:t>week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675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3536-03B8-8F48-4535-A79FFD9DF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Data structure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9264FF-631D-B3DB-ED2D-525A61BC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8037"/>
            <a:ext cx="7440063" cy="800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E55A97-6662-37CE-B0F0-6812578F1FF5}"/>
              </a:ext>
            </a:extLst>
          </p:cNvPr>
          <p:cNvSpPr txBox="1"/>
          <p:nvPr/>
        </p:nvSpPr>
        <p:spPr>
          <a:xfrm>
            <a:off x="838200" y="1592580"/>
            <a:ext cx="6774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2 folders:</a:t>
            </a:r>
          </a:p>
          <a:p>
            <a:pPr marL="285750" indent="-285750">
              <a:buFontTx/>
              <a:buChar char="-"/>
            </a:pPr>
            <a:r>
              <a:rPr lang="fr-CH" dirty="0" err="1"/>
              <a:t>Gradually</a:t>
            </a:r>
            <a:r>
              <a:rPr lang="fr-CH" dirty="0"/>
              <a:t> </a:t>
            </a:r>
            <a:r>
              <a:rPr lang="fr-CH" dirty="0" err="1"/>
              <a:t>lowering</a:t>
            </a:r>
            <a:r>
              <a:rPr lang="fr-CH" dirty="0"/>
              <a:t>: </a:t>
            </a:r>
            <a:r>
              <a:rPr lang="fr-CH" dirty="0" err="1"/>
              <a:t>ranging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-50 </a:t>
            </a:r>
            <a:r>
              <a:rPr lang="fr-CH" dirty="0" err="1"/>
              <a:t>mBar</a:t>
            </a:r>
            <a:r>
              <a:rPr lang="fr-CH" dirty="0"/>
              <a:t> to -88 </a:t>
            </a:r>
            <a:r>
              <a:rPr lang="fr-CH" dirty="0" err="1"/>
              <a:t>mBar</a:t>
            </a:r>
            <a:endParaRPr lang="fr-CH" dirty="0"/>
          </a:p>
          <a:p>
            <a:pPr marL="285750" indent="-285750">
              <a:buFontTx/>
              <a:buChar char="-"/>
            </a:pPr>
            <a:r>
              <a:rPr lang="fr-CH" dirty="0" err="1"/>
              <a:t>Gradually</a:t>
            </a:r>
            <a:r>
              <a:rPr lang="fr-CH" dirty="0"/>
              <a:t> </a:t>
            </a:r>
            <a:r>
              <a:rPr lang="fr-CH" dirty="0" err="1"/>
              <a:t>increasing</a:t>
            </a:r>
            <a:r>
              <a:rPr lang="fr-CH" dirty="0"/>
              <a:t>: </a:t>
            </a:r>
            <a:r>
              <a:rPr lang="fr-CH" dirty="0" err="1"/>
              <a:t>ranging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-50 </a:t>
            </a:r>
            <a:r>
              <a:rPr lang="fr-CH" dirty="0" err="1"/>
              <a:t>mBar</a:t>
            </a:r>
            <a:r>
              <a:rPr lang="fr-CH" dirty="0"/>
              <a:t> to -44 </a:t>
            </a:r>
            <a:r>
              <a:rPr lang="fr-CH" dirty="0" err="1"/>
              <a:t>mBar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B980A-4D1C-E080-F5B3-D11C582BFB0D}"/>
              </a:ext>
            </a:extLst>
          </p:cNvPr>
          <p:cNvSpPr txBox="1"/>
          <p:nvPr/>
        </p:nvSpPr>
        <p:spPr>
          <a:xfrm>
            <a:off x="838200" y="3429000"/>
            <a:ext cx="758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Each</a:t>
            </a:r>
            <a:r>
              <a:rPr lang="fr-CH" dirty="0"/>
              <a:t> folder </a:t>
            </a:r>
            <a:r>
              <a:rPr lang="fr-CH" dirty="0" err="1"/>
              <a:t>contains</a:t>
            </a:r>
            <a:r>
              <a:rPr lang="fr-CH" dirty="0"/>
              <a:t> 2 </a:t>
            </a:r>
            <a:r>
              <a:rPr lang="fr-CH" dirty="0" err="1"/>
              <a:t>json</a:t>
            </a:r>
            <a:r>
              <a:rPr lang="fr-CH" dirty="0"/>
              <a:t> files and 2 images for the </a:t>
            </a:r>
            <a:r>
              <a:rPr lang="fr-CH" dirty="0" err="1"/>
              <a:t>same</a:t>
            </a:r>
            <a:r>
              <a:rPr lang="fr-CH" dirty="0"/>
              <a:t> pressure value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DC78F-2350-A0F7-CDB5-903BA2067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98332"/>
            <a:ext cx="6525536" cy="16766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BA567C-E995-8B20-ECE8-6C935DAB6EC1}"/>
              </a:ext>
            </a:extLst>
          </p:cNvPr>
          <p:cNvSpPr txBox="1"/>
          <p:nvPr/>
        </p:nvSpPr>
        <p:spPr>
          <a:xfrm>
            <a:off x="838200" y="5599042"/>
            <a:ext cx="5818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The </a:t>
            </a:r>
            <a:r>
              <a:rPr lang="fr-CH" dirty="0" err="1"/>
              <a:t>dataset</a:t>
            </a:r>
            <a:r>
              <a:rPr lang="fr-CH" dirty="0"/>
              <a:t> </a:t>
            </a:r>
            <a:r>
              <a:rPr lang="fr-CH" dirty="0" err="1"/>
              <a:t>will</a:t>
            </a:r>
            <a:r>
              <a:rPr lang="fr-CH" dirty="0"/>
              <a:t> </a:t>
            </a:r>
            <a:r>
              <a:rPr lang="fr-CH" dirty="0" err="1"/>
              <a:t>be</a:t>
            </a:r>
            <a:r>
              <a:rPr lang="fr-CH" dirty="0"/>
              <a:t> </a:t>
            </a:r>
            <a:r>
              <a:rPr lang="fr-CH" dirty="0" err="1"/>
              <a:t>separated</a:t>
            </a:r>
            <a:r>
              <a:rPr lang="fr-CH" dirty="0"/>
              <a:t> </a:t>
            </a:r>
            <a:r>
              <a:rPr lang="fr-CH" dirty="0" err="1"/>
              <a:t>into</a:t>
            </a:r>
            <a:r>
              <a:rPr lang="fr-CH" dirty="0"/>
              <a:t> 4 parts:</a:t>
            </a:r>
          </a:p>
          <a:p>
            <a:r>
              <a:rPr lang="fr-CH" dirty="0"/>
              <a:t>Lowering_1	Increasing_1</a:t>
            </a:r>
          </a:p>
          <a:p>
            <a:r>
              <a:rPr lang="fr-CH" dirty="0"/>
              <a:t>Lowering_2	Increasing_2</a:t>
            </a:r>
          </a:p>
        </p:txBody>
      </p:sp>
    </p:spTree>
    <p:extLst>
      <p:ext uri="{BB962C8B-B14F-4D97-AF65-F5344CB8AC3E}">
        <p14:creationId xmlns:p14="http://schemas.microsoft.com/office/powerpoint/2010/main" val="427307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0E72-02F2-7F4C-AEBA-3DB4A75D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Data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EA987-F5E5-C0D5-DEC4-A92F67CF3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5847" cy="1425575"/>
          </a:xfrm>
        </p:spPr>
        <p:txBody>
          <a:bodyPr/>
          <a:lstStyle/>
          <a:p>
            <a:pPr marL="0" indent="0">
              <a:buNone/>
            </a:pPr>
            <a:r>
              <a:rPr lang="fr-CH" dirty="0"/>
              <a:t>- 4 </a:t>
            </a:r>
            <a:r>
              <a:rPr lang="fr-CH" dirty="0" err="1"/>
              <a:t>banks</a:t>
            </a:r>
            <a:r>
              <a:rPr lang="fr-CH" dirty="0"/>
              <a:t> of 320 </a:t>
            </a:r>
            <a:r>
              <a:rPr lang="fr-CH" dirty="0" err="1"/>
              <a:t>nozzles</a:t>
            </a:r>
            <a:r>
              <a:rPr lang="fr-CH" dirty="0"/>
              <a:t> </a:t>
            </a:r>
            <a:r>
              <a:rPr lang="fr-CH" dirty="0" err="1"/>
              <a:t>each</a:t>
            </a:r>
            <a:endParaRPr lang="fr-CH" dirty="0"/>
          </a:p>
          <a:p>
            <a:pPr marL="0" indent="0">
              <a:buNone/>
            </a:pPr>
            <a:r>
              <a:rPr lang="fr-CH" dirty="0"/>
              <a:t>- </a:t>
            </a:r>
            <a:r>
              <a:rPr lang="fr-CH" dirty="0" err="1"/>
              <a:t>Each</a:t>
            </a:r>
            <a:r>
              <a:rPr lang="fr-CH" dirty="0"/>
              <a:t> </a:t>
            </a:r>
            <a:r>
              <a:rPr lang="fr-CH" dirty="0" err="1"/>
              <a:t>nozzle</a:t>
            </a:r>
            <a:r>
              <a:rPr lang="fr-CH" dirty="0"/>
              <a:t> and </a:t>
            </a:r>
            <a:r>
              <a:rPr lang="fr-CH" dirty="0" err="1"/>
              <a:t>it’s</a:t>
            </a:r>
            <a:r>
              <a:rPr lang="fr-CH" dirty="0"/>
              <a:t> </a:t>
            </a:r>
            <a:r>
              <a:rPr lang="fr-CH" dirty="0" err="1"/>
              <a:t>corresponding</a:t>
            </a:r>
            <a:r>
              <a:rPr lang="fr-CH" dirty="0"/>
              <a:t> </a:t>
            </a:r>
            <a:r>
              <a:rPr lang="fr-CH" dirty="0" err="1"/>
              <a:t>printed</a:t>
            </a:r>
            <a:r>
              <a:rPr lang="fr-CH" dirty="0"/>
              <a:t> pattern has 124 values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E928D-F41E-A8C9-68D6-14E7E7085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0" y="288787"/>
            <a:ext cx="3581399" cy="6280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BF1EC-8964-876D-27E2-F5B5DA4D9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51200"/>
            <a:ext cx="4191000" cy="33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1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are Tensors? • Introduction to Machine Learning with TensorFlow.js">
            <a:extLst>
              <a:ext uri="{FF2B5EF4-FFF2-40B4-BE49-F238E27FC236}">
                <a16:creationId xmlns:a16="http://schemas.microsoft.com/office/drawing/2014/main" id="{71E90D25-62FC-8EEE-66ED-2A6DCEEE3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18055"/>
            <a:ext cx="7599680" cy="42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EE9D7E-C933-FEBD-1E6C-F72A6610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Data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6F45-C999-D79A-6318-F8000F0EF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977880" cy="4351338"/>
          </a:xfrm>
        </p:spPr>
        <p:txBody>
          <a:bodyPr/>
          <a:lstStyle/>
          <a:p>
            <a:pPr marL="0" indent="0">
              <a:buNone/>
            </a:pPr>
            <a:r>
              <a:rPr lang="fr-CH" dirty="0" err="1"/>
              <a:t>We</a:t>
            </a:r>
            <a:r>
              <a:rPr lang="fr-CH" dirty="0"/>
              <a:t> combine all the </a:t>
            </a:r>
            <a:r>
              <a:rPr lang="fr-CH" dirty="0" err="1"/>
              <a:t>json</a:t>
            </a:r>
            <a:r>
              <a:rPr lang="fr-CH" dirty="0"/>
              <a:t> files for </a:t>
            </a:r>
            <a:r>
              <a:rPr lang="fr-CH" dirty="0" err="1"/>
              <a:t>each</a:t>
            </a:r>
            <a:r>
              <a:rPr lang="fr-CH" dirty="0"/>
              <a:t> pressure </a:t>
            </a:r>
            <a:r>
              <a:rPr lang="fr-CH" dirty="0" err="1"/>
              <a:t>level</a:t>
            </a:r>
            <a:r>
              <a:rPr lang="fr-CH" dirty="0"/>
              <a:t> </a:t>
            </a:r>
            <a:r>
              <a:rPr lang="fr-CH" dirty="0" err="1"/>
              <a:t>into</a:t>
            </a:r>
            <a:r>
              <a:rPr lang="fr-CH" dirty="0"/>
              <a:t> a 3D-tensor</a:t>
            </a:r>
          </a:p>
          <a:p>
            <a:pPr marL="0" indent="0">
              <a:buNone/>
            </a:pPr>
            <a:r>
              <a:rPr lang="fr-CH" dirty="0" err="1"/>
              <a:t>We</a:t>
            </a:r>
            <a:r>
              <a:rPr lang="fr-CH" dirty="0"/>
              <a:t> </a:t>
            </a:r>
            <a:r>
              <a:rPr lang="fr-CH" dirty="0" err="1"/>
              <a:t>take</a:t>
            </a:r>
            <a:r>
              <a:rPr lang="fr-CH" dirty="0"/>
              <a:t> Lowering_1 as an </a:t>
            </a:r>
            <a:r>
              <a:rPr lang="fr-CH" dirty="0" err="1"/>
              <a:t>example</a:t>
            </a:r>
            <a:r>
              <a:rPr lang="fr-CH" dirty="0"/>
              <a:t>: </a:t>
            </a:r>
            <a:r>
              <a:rPr lang="fr-FR" sz="2000" dirty="0">
                <a:solidFill>
                  <a:srgbClr val="FF0000"/>
                </a:solidFill>
              </a:rPr>
              <a:t>1280 </a:t>
            </a:r>
            <a:r>
              <a:rPr lang="fr-FR" sz="2000" dirty="0" err="1">
                <a:solidFill>
                  <a:srgbClr val="FF0000"/>
                </a:solidFill>
              </a:rPr>
              <a:t>nozzle</a:t>
            </a:r>
            <a:r>
              <a:rPr lang="fr-FR" sz="2000" dirty="0">
                <a:solidFill>
                  <a:srgbClr val="FF0000"/>
                </a:solidFill>
              </a:rPr>
              <a:t> × 95 pressure × 124 </a:t>
            </a:r>
            <a:r>
              <a:rPr lang="fr-FR" sz="2000" dirty="0" err="1">
                <a:solidFill>
                  <a:srgbClr val="FF0000"/>
                </a:solidFill>
              </a:rPr>
              <a:t>sample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endParaRPr lang="fr-CH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69634D-D28F-C6BF-5052-A790BC1C924D}"/>
              </a:ext>
            </a:extLst>
          </p:cNvPr>
          <p:cNvCxnSpPr>
            <a:cxnSpLocks/>
          </p:cNvCxnSpPr>
          <p:nvPr/>
        </p:nvCxnSpPr>
        <p:spPr>
          <a:xfrm flipH="1">
            <a:off x="5407742" y="6128118"/>
            <a:ext cx="21024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04F94C-4B76-F48C-D9FC-E29DCE503886}"/>
              </a:ext>
            </a:extLst>
          </p:cNvPr>
          <p:cNvCxnSpPr>
            <a:cxnSpLocks/>
          </p:cNvCxnSpPr>
          <p:nvPr/>
        </p:nvCxnSpPr>
        <p:spPr>
          <a:xfrm flipV="1">
            <a:off x="7510207" y="5098025"/>
            <a:ext cx="675148" cy="1030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0FB3B0-E094-44DC-E258-A1D72AF01B91}"/>
              </a:ext>
            </a:extLst>
          </p:cNvPr>
          <p:cNvCxnSpPr>
            <a:cxnSpLocks/>
          </p:cNvCxnSpPr>
          <p:nvPr/>
        </p:nvCxnSpPr>
        <p:spPr>
          <a:xfrm flipV="1">
            <a:off x="7513484" y="4188542"/>
            <a:ext cx="0" cy="1939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C55FFD-1EAF-820C-C6EC-11DD49A03B32}"/>
              </a:ext>
            </a:extLst>
          </p:cNvPr>
          <p:cNvSpPr txBox="1"/>
          <p:nvPr/>
        </p:nvSpPr>
        <p:spPr>
          <a:xfrm>
            <a:off x="5407742" y="6168927"/>
            <a:ext cx="218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Nozzle</a:t>
            </a:r>
            <a:r>
              <a:rPr lang="fr-CH" dirty="0"/>
              <a:t> (A1- D320)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07D5EF-FB2B-5F83-5F98-9668605FE786}"/>
              </a:ext>
            </a:extLst>
          </p:cNvPr>
          <p:cNvSpPr txBox="1"/>
          <p:nvPr/>
        </p:nvSpPr>
        <p:spPr>
          <a:xfrm>
            <a:off x="7847780" y="5428405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Pressure (-50 till -88 </a:t>
            </a:r>
            <a:r>
              <a:rPr lang="fr-CH" dirty="0" err="1"/>
              <a:t>mBar</a:t>
            </a:r>
            <a:r>
              <a:rPr lang="fr-CH" dirty="0"/>
              <a:t>)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BA39F2-E7AE-5912-5347-1CEC07B78813}"/>
              </a:ext>
            </a:extLst>
          </p:cNvPr>
          <p:cNvSpPr txBox="1"/>
          <p:nvPr/>
        </p:nvSpPr>
        <p:spPr>
          <a:xfrm>
            <a:off x="7516762" y="4003875"/>
            <a:ext cx="299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Sample</a:t>
            </a:r>
            <a:r>
              <a:rPr lang="fr-CH" dirty="0"/>
              <a:t> (the 124 values for </a:t>
            </a:r>
            <a:r>
              <a:rPr lang="fr-CH" dirty="0" err="1"/>
              <a:t>each</a:t>
            </a:r>
            <a:r>
              <a:rPr lang="fr-CH" dirty="0"/>
              <a:t> </a:t>
            </a:r>
            <a:r>
              <a:rPr lang="fr-CH" dirty="0" err="1"/>
              <a:t>printed</a:t>
            </a:r>
            <a:r>
              <a:rPr lang="fr-CH" dirty="0"/>
              <a:t> pattern)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19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777A-08B4-65D7-E63F-1FD2CC0A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Data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90761-9DBF-3FA1-0AAF-95333280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"</a:t>
            </a:r>
            <a:r>
              <a:rPr lang="en-GB" dirty="0" err="1"/>
              <a:t>Sensing_Sampling_Frequency_Hz</a:t>
            </a:r>
            <a:r>
              <a:rPr lang="en-GB" dirty="0"/>
              <a:t>": 4125000 (0.24 </a:t>
            </a:r>
            <a:r>
              <a:rPr lang="en-GB" dirty="0" err="1"/>
              <a:t>ms</a:t>
            </a:r>
            <a:r>
              <a:rPr lang="en-GB" dirty="0"/>
              <a:t> per sample)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1D3CA9-3D6F-F33F-DC17-F9C35940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1690"/>
            <a:ext cx="5974718" cy="41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93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AA17-E1DC-091A-859D-C47CC8F4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Feature</a:t>
            </a:r>
            <a:r>
              <a:rPr lang="fr-CH" dirty="0"/>
              <a:t> extraction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C7F6D-762E-0577-560B-146726579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dirty="0"/>
              <a:t>54 </a:t>
            </a:r>
            <a:r>
              <a:rPr lang="fr-CH" dirty="0" err="1"/>
              <a:t>calculated</a:t>
            </a:r>
            <a:r>
              <a:rPr lang="fr-CH" dirty="0"/>
              <a:t> </a:t>
            </a:r>
            <a:r>
              <a:rPr lang="fr-CH" dirty="0" err="1"/>
              <a:t>features</a:t>
            </a:r>
            <a:r>
              <a:rPr lang="fr-CH" dirty="0"/>
              <a:t> per </a:t>
            </a:r>
            <a:r>
              <a:rPr lang="fr-CH" dirty="0" err="1"/>
              <a:t>waveform</a:t>
            </a:r>
            <a:r>
              <a:rPr lang="fr-CH" dirty="0"/>
              <a:t>:</a:t>
            </a:r>
          </a:p>
          <a:p>
            <a:pPr marL="0" indent="0">
              <a:buNone/>
            </a:pPr>
            <a:r>
              <a:rPr lang="en-GB" b="1" dirty="0"/>
              <a:t>Time-domain (36)</a:t>
            </a:r>
            <a:r>
              <a:rPr lang="en-GB" dirty="0"/>
              <a:t> → W0_*, W1_*, W2_*, W3_* with stats: mean, std, rms, p2p, </a:t>
            </a:r>
            <a:r>
              <a:rPr lang="en-GB" dirty="0" err="1"/>
              <a:t>absmax</a:t>
            </a:r>
            <a:r>
              <a:rPr lang="en-GB" dirty="0"/>
              <a:t>, skew, </a:t>
            </a:r>
            <a:r>
              <a:rPr lang="en-GB" dirty="0" err="1"/>
              <a:t>kurt</a:t>
            </a:r>
            <a:r>
              <a:rPr lang="en-GB" dirty="0"/>
              <a:t>, </a:t>
            </a:r>
            <a:r>
              <a:rPr lang="en-GB" dirty="0" err="1"/>
              <a:t>absarea</a:t>
            </a:r>
            <a:r>
              <a:rPr lang="en-GB" dirty="0"/>
              <a:t>, </a:t>
            </a:r>
            <a:r>
              <a:rPr lang="en-GB" dirty="0" err="1"/>
              <a:t>zcr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Frequency (6)</a:t>
            </a:r>
            <a:r>
              <a:rPr lang="en-GB" dirty="0"/>
              <a:t> → </a:t>
            </a:r>
            <a:r>
              <a:rPr lang="en-GB" dirty="0" err="1"/>
              <a:t>spec_centroid</a:t>
            </a:r>
            <a:r>
              <a:rPr lang="en-GB" dirty="0"/>
              <a:t>, </a:t>
            </a:r>
            <a:r>
              <a:rPr lang="en-GB" dirty="0" err="1"/>
              <a:t>dom_freq</a:t>
            </a:r>
            <a:r>
              <a:rPr lang="en-GB" dirty="0"/>
              <a:t>, band_0, band_1, band_2, band_3</a:t>
            </a:r>
            <a:br>
              <a:rPr lang="en-GB" dirty="0"/>
            </a:br>
            <a:r>
              <a:rPr lang="en-GB" i="1" dirty="0"/>
              <a:t>(bands from: 0–80k, 80–200k, 200–600k, 600k–1.5M Hz)</a:t>
            </a:r>
          </a:p>
          <a:p>
            <a:pPr marL="0" indent="0">
              <a:buNone/>
            </a:pPr>
            <a:r>
              <a:rPr lang="en-GB" b="1" dirty="0"/>
              <a:t>Discrete Cosine Transform - DCT (12)</a:t>
            </a:r>
            <a:r>
              <a:rPr lang="en-GB" dirty="0"/>
              <a:t> → dct_0 … dct_11</a:t>
            </a:r>
          </a:p>
        </p:txBody>
      </p:sp>
    </p:spTree>
    <p:extLst>
      <p:ext uri="{BB962C8B-B14F-4D97-AF65-F5344CB8AC3E}">
        <p14:creationId xmlns:p14="http://schemas.microsoft.com/office/powerpoint/2010/main" val="201192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3985-9919-E2F4-BA8A-182AD0B1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Feature</a:t>
            </a:r>
            <a:r>
              <a:rPr lang="fr-CH" dirty="0"/>
              <a:t> extraction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7C7E90-1E55-BB7B-8536-1608C199C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0000" b="49727"/>
          <a:stretch>
            <a:fillRect/>
          </a:stretch>
        </p:blipFill>
        <p:spPr>
          <a:xfrm>
            <a:off x="5510244" y="1474453"/>
            <a:ext cx="6207349" cy="4667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9607FB-0098-2855-10E1-5FBFF02381D1}"/>
              </a:ext>
            </a:extLst>
          </p:cNvPr>
          <p:cNvSpPr txBox="1"/>
          <p:nvPr/>
        </p:nvSpPr>
        <p:spPr>
          <a:xfrm>
            <a:off x="234991" y="1690228"/>
            <a:ext cx="53792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Dropped features for Replicate 1</a:t>
            </a:r>
            <a:r>
              <a:rPr lang="en-GB" dirty="0"/>
              <a:t> (threshold &gt; 0.9):</a:t>
            </a:r>
          </a:p>
          <a:p>
            <a:r>
              <a:rPr lang="en-GB" b="1" dirty="0"/>
              <a:t>Time-domain</a:t>
            </a:r>
            <a:endParaRPr lang="en-GB" dirty="0"/>
          </a:p>
          <a:p>
            <a:r>
              <a:rPr lang="en-GB" b="1" dirty="0"/>
              <a:t>W0:</a:t>
            </a:r>
            <a:r>
              <a:rPr lang="en-GB" dirty="0"/>
              <a:t> rms, p2p, </a:t>
            </a:r>
            <a:r>
              <a:rPr lang="en-GB" dirty="0" err="1"/>
              <a:t>absarea</a:t>
            </a:r>
            <a:endParaRPr lang="en-GB" dirty="0"/>
          </a:p>
          <a:p>
            <a:r>
              <a:rPr lang="en-GB" b="1" dirty="0"/>
              <a:t>W1:</a:t>
            </a:r>
            <a:r>
              <a:rPr lang="en-GB" dirty="0"/>
              <a:t> rms, </a:t>
            </a:r>
            <a:r>
              <a:rPr lang="en-GB" dirty="0" err="1"/>
              <a:t>absmax</a:t>
            </a:r>
            <a:r>
              <a:rPr lang="en-GB" dirty="0"/>
              <a:t>, </a:t>
            </a:r>
            <a:r>
              <a:rPr lang="en-GB" dirty="0" err="1"/>
              <a:t>absarea</a:t>
            </a:r>
            <a:endParaRPr lang="en-GB" dirty="0"/>
          </a:p>
          <a:p>
            <a:r>
              <a:rPr lang="en-GB" b="1" dirty="0"/>
              <a:t>W2:</a:t>
            </a:r>
            <a:r>
              <a:rPr lang="en-GB" dirty="0"/>
              <a:t> rms, </a:t>
            </a:r>
            <a:r>
              <a:rPr lang="en-GB" dirty="0" err="1"/>
              <a:t>absmax</a:t>
            </a:r>
            <a:r>
              <a:rPr lang="en-GB" dirty="0"/>
              <a:t>, </a:t>
            </a:r>
            <a:r>
              <a:rPr lang="en-GB" dirty="0" err="1"/>
              <a:t>absarea</a:t>
            </a:r>
            <a:endParaRPr lang="en-GB" dirty="0"/>
          </a:p>
          <a:p>
            <a:r>
              <a:rPr lang="en-GB" b="1" dirty="0"/>
              <a:t>W3:</a:t>
            </a:r>
            <a:r>
              <a:rPr lang="en-GB" dirty="0"/>
              <a:t> mean, rms, p2p, </a:t>
            </a:r>
            <a:r>
              <a:rPr lang="en-GB" dirty="0" err="1"/>
              <a:t>absmax</a:t>
            </a:r>
            <a:r>
              <a:rPr lang="en-GB" dirty="0"/>
              <a:t>, </a:t>
            </a:r>
            <a:r>
              <a:rPr lang="en-GB" dirty="0" err="1"/>
              <a:t>absarea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Frequency</a:t>
            </a:r>
            <a:endParaRPr lang="en-GB" dirty="0"/>
          </a:p>
          <a:p>
            <a:r>
              <a:rPr lang="en-GB" i="1" dirty="0"/>
              <a:t>(none dropped)</a:t>
            </a:r>
          </a:p>
          <a:p>
            <a:endParaRPr lang="en-GB" dirty="0"/>
          </a:p>
          <a:p>
            <a:r>
              <a:rPr lang="en-GB" b="1" dirty="0"/>
              <a:t>DCT</a:t>
            </a:r>
            <a:endParaRPr lang="en-GB" dirty="0"/>
          </a:p>
          <a:p>
            <a:r>
              <a:rPr lang="en-GB" dirty="0"/>
              <a:t>dct_0, dct_3, dct_4, dct_5, dct_8, dct_9, dct_10, dct_11</a:t>
            </a:r>
          </a:p>
          <a:p>
            <a:endParaRPr lang="en-GB" dirty="0"/>
          </a:p>
          <a:p>
            <a:r>
              <a:rPr lang="en-GB" b="1" dirty="0"/>
              <a:t>Total dropped:</a:t>
            </a:r>
            <a:r>
              <a:rPr lang="en-GB" dirty="0"/>
              <a:t> 22 features.</a:t>
            </a:r>
          </a:p>
          <a:p>
            <a:r>
              <a:rPr lang="en-GB" b="1" dirty="0"/>
              <a:t>Remaining:</a:t>
            </a:r>
            <a:r>
              <a:rPr lang="en-GB" dirty="0"/>
              <a:t> 32 features.</a:t>
            </a:r>
          </a:p>
        </p:txBody>
      </p:sp>
    </p:spTree>
    <p:extLst>
      <p:ext uri="{BB962C8B-B14F-4D97-AF65-F5344CB8AC3E}">
        <p14:creationId xmlns:p14="http://schemas.microsoft.com/office/powerpoint/2010/main" val="228767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A18C-D83A-F951-8DF7-1952E784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Isolation Forest </a:t>
            </a:r>
            <a:r>
              <a:rPr lang="fr-CH" dirty="0" err="1"/>
              <a:t>explanation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AB94F-CE79-7719-B971-14923F7CB599}"/>
              </a:ext>
            </a:extLst>
          </p:cNvPr>
          <p:cNvSpPr txBox="1"/>
          <p:nvPr/>
        </p:nvSpPr>
        <p:spPr>
          <a:xfrm>
            <a:off x="838200" y="1367522"/>
            <a:ext cx="10037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Isolation Forest, every point ends in a leaf; what flags anomalies is </a:t>
            </a:r>
            <a:r>
              <a:rPr lang="en-GB" b="1" dirty="0"/>
              <a:t>consistently short average path length across many random trees</a:t>
            </a:r>
            <a:r>
              <a:rPr lang="en-GB" dirty="0"/>
              <a:t>.</a:t>
            </a:r>
          </a:p>
        </p:txBody>
      </p:sp>
      <p:pic>
        <p:nvPicPr>
          <p:cNvPr id="3076" name="Picture 4" descr="Enhanced Isolation Forest-Based Algorithm for Unsupervised Anomaly  Detection in Lidar SLAM Localization">
            <a:extLst>
              <a:ext uri="{FF2B5EF4-FFF2-40B4-BE49-F238E27FC236}">
                <a16:creationId xmlns:a16="http://schemas.microsoft.com/office/drawing/2014/main" id="{D6E58484-5811-BBCF-AD60-59BA864AE2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706" y="2013853"/>
            <a:ext cx="92500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CB696-F17A-794A-A7D9-7A36DC121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50" y="41960"/>
            <a:ext cx="4544059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41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A3BE90-AD10-F124-3A58-961CF5531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r="18034"/>
          <a:stretch>
            <a:fillRect/>
          </a:stretch>
        </p:blipFill>
        <p:spPr>
          <a:xfrm>
            <a:off x="3924300" y="2376964"/>
            <a:ext cx="4343400" cy="16243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042B2C-64EE-4CED-0B39-066C2412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Benchmark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F5EC9-E491-01A2-E0B3-9CAD0CFCB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Recall</a:t>
            </a:r>
            <a:r>
              <a:rPr lang="fr-CH" dirty="0"/>
              <a:t> (</a:t>
            </a:r>
            <a:r>
              <a:rPr lang="fr-CH" dirty="0" err="1"/>
              <a:t>True</a:t>
            </a:r>
            <a:r>
              <a:rPr lang="fr-CH" dirty="0"/>
              <a:t> positive ratio)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r>
              <a:rPr lang="fr-CH" dirty="0" err="1"/>
              <a:t>What</a:t>
            </a:r>
            <a:r>
              <a:rPr lang="fr-CH" dirty="0"/>
              <a:t> </a:t>
            </a:r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metrics</a:t>
            </a:r>
            <a:r>
              <a:rPr lang="fr-CH" dirty="0"/>
              <a:t> </a:t>
            </a:r>
            <a:r>
              <a:rPr lang="fr-CH" dirty="0" err="1"/>
              <a:t>could</a:t>
            </a:r>
            <a:r>
              <a:rPr lang="fr-CH" dirty="0"/>
              <a:t> </a:t>
            </a:r>
            <a:r>
              <a:rPr lang="fr-CH" dirty="0" err="1"/>
              <a:t>we</a:t>
            </a:r>
            <a:r>
              <a:rPr lang="fr-CH" dirty="0"/>
              <a:t> use for benchmarking ?</a:t>
            </a:r>
          </a:p>
        </p:txBody>
      </p:sp>
    </p:spTree>
    <p:extLst>
      <p:ext uri="{BB962C8B-B14F-4D97-AF65-F5344CB8AC3E}">
        <p14:creationId xmlns:p14="http://schemas.microsoft.com/office/powerpoint/2010/main" val="237830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62-E016-FC6B-4D12-1D1D9D60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Model </a:t>
            </a:r>
            <a:r>
              <a:rPr lang="fr-CH" dirty="0" err="1"/>
              <a:t>optimization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8C22-EC32-018A-42FA-ED2A3170B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52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8EC2-DA5B-ED3E-2835-70CFCFB4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fr-CH" dirty="0" err="1"/>
              <a:t>What</a:t>
            </a:r>
            <a:r>
              <a:rPr lang="fr-CH" dirty="0"/>
              <a:t> to look out for </a:t>
            </a:r>
            <a:r>
              <a:rPr lang="fr-CH" dirty="0" err="1"/>
              <a:t>next</a:t>
            </a:r>
            <a:r>
              <a:rPr lang="fr-CH" dirty="0"/>
              <a:t> </a:t>
            </a:r>
            <a:r>
              <a:rPr lang="fr-CH" dirty="0" err="1"/>
              <a:t>week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64623-F0B9-7CEA-6296-856CE4909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Labeled</a:t>
            </a:r>
            <a:r>
              <a:rPr lang="fr-CH" dirty="0"/>
              <a:t> data: </a:t>
            </a:r>
            <a:r>
              <a:rPr lang="fr-CH" dirty="0" err="1"/>
              <a:t>optimize</a:t>
            </a:r>
            <a:r>
              <a:rPr lang="fr-CH" dirty="0"/>
              <a:t> at </a:t>
            </a:r>
            <a:r>
              <a:rPr lang="fr-CH" dirty="0" err="1"/>
              <a:t>precision</a:t>
            </a:r>
            <a:r>
              <a:rPr lang="fr-CH" dirty="0"/>
              <a:t> and </a:t>
            </a:r>
            <a:r>
              <a:rPr lang="fr-CH" dirty="0" err="1"/>
              <a:t>recall</a:t>
            </a:r>
            <a:r>
              <a:rPr lang="fr-CH" dirty="0"/>
              <a:t> scores</a:t>
            </a:r>
          </a:p>
          <a:p>
            <a:r>
              <a:rPr lang="fr-CH" dirty="0" err="1"/>
              <a:t>Studying</a:t>
            </a:r>
            <a:r>
              <a:rPr lang="fr-CH" dirty="0"/>
              <a:t> the </a:t>
            </a:r>
            <a:r>
              <a:rPr lang="fr-CH" dirty="0" err="1"/>
              <a:t>features</a:t>
            </a:r>
            <a:r>
              <a:rPr lang="fr-CH" dirty="0"/>
              <a:t> </a:t>
            </a:r>
            <a:r>
              <a:rPr lang="fr-CH" dirty="0" err="1"/>
              <a:t>that</a:t>
            </a:r>
            <a:r>
              <a:rPr lang="fr-CH" dirty="0"/>
              <a:t> affects the </a:t>
            </a:r>
            <a:r>
              <a:rPr lang="fr-CH" dirty="0" err="1"/>
              <a:t>anomlay</a:t>
            </a:r>
            <a:r>
              <a:rPr lang="fr-CH" dirty="0"/>
              <a:t> score the </a:t>
            </a:r>
            <a:r>
              <a:rPr lang="fr-CH" dirty="0" err="1"/>
              <a:t>most</a:t>
            </a:r>
            <a:endParaRPr lang="fr-CH" dirty="0"/>
          </a:p>
          <a:p>
            <a:r>
              <a:rPr lang="fr-CH" dirty="0" err="1"/>
              <a:t>Looking</a:t>
            </a:r>
            <a:r>
              <a:rPr lang="fr-CH" dirty="0"/>
              <a:t> at the relation </a:t>
            </a:r>
            <a:r>
              <a:rPr lang="fr-CH" dirty="0" err="1"/>
              <a:t>between</a:t>
            </a:r>
            <a:r>
              <a:rPr lang="fr-CH" dirty="0"/>
              <a:t> false </a:t>
            </a:r>
            <a:r>
              <a:rPr lang="fr-CH" dirty="0" err="1"/>
              <a:t>negatives</a:t>
            </a:r>
            <a:r>
              <a:rPr lang="fr-CH" dirty="0"/>
              <a:t> at </a:t>
            </a:r>
            <a:r>
              <a:rPr lang="fr-CH" dirty="0" err="1"/>
              <a:t>lower</a:t>
            </a:r>
            <a:r>
              <a:rPr lang="fr-CH" dirty="0"/>
              <a:t> pressure and </a:t>
            </a:r>
            <a:r>
              <a:rPr lang="fr-CH" dirty="0" err="1"/>
              <a:t>true</a:t>
            </a:r>
            <a:r>
              <a:rPr lang="fr-CH" dirty="0"/>
              <a:t> négatives at </a:t>
            </a:r>
            <a:r>
              <a:rPr lang="fr-CH" dirty="0" err="1"/>
              <a:t>higher</a:t>
            </a:r>
            <a:r>
              <a:rPr lang="fr-CH" dirty="0"/>
              <a:t> pressures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808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463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PA week 6</vt:lpstr>
      <vt:lpstr>Overview</vt:lpstr>
      <vt:lpstr>Data structure</vt:lpstr>
      <vt:lpstr>Data structure</vt:lpstr>
      <vt:lpstr>Data structure</vt:lpstr>
      <vt:lpstr>Data structure</vt:lpstr>
      <vt:lpstr>Feature extraction</vt:lpstr>
      <vt:lpstr>Feature extraction</vt:lpstr>
      <vt:lpstr>Isolation Forest explanation</vt:lpstr>
      <vt:lpstr>Benchmark</vt:lpstr>
      <vt:lpstr>Model optimization</vt:lpstr>
      <vt:lpstr>What to look out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Atallah Anthony</dc:creator>
  <cp:lastModifiedBy>Atallah Anthony</cp:lastModifiedBy>
  <cp:revision>20</cp:revision>
  <dcterms:created xsi:type="dcterms:W3CDTF">2025-10-19T11:56:33Z</dcterms:created>
  <dcterms:modified xsi:type="dcterms:W3CDTF">2025-10-19T20:01:54Z</dcterms:modified>
</cp:coreProperties>
</file>