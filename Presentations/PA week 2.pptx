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87" r:id="rId5"/>
    <p:sldId id="259" r:id="rId6"/>
    <p:sldId id="288" r:id="rId7"/>
    <p:sldId id="264" r:id="rId8"/>
    <p:sldId id="289" r:id="rId9"/>
    <p:sldId id="290" r:id="rId10"/>
    <p:sldId id="281" r:id="rId11"/>
    <p:sldId id="282" r:id="rId12"/>
    <p:sldId id="286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96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F54C78-E91B-43DD-B235-D44C129E6DC9}" type="datetimeFigureOut">
              <a:rPr lang="en-GB" smtClean="0"/>
              <a:t>28/09/2025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E1AF2C-0D62-4063-9A7E-4FC16E052E7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49397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AD052-B99A-BBE8-B564-3D81F4203E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273B02-3706-78D5-5BFD-EC5151DAF6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C9FF2-034F-038D-013E-61A5A7C425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B88CF-EAFD-4D55-B363-40AD283AFE06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369BAF-F8B6-C72C-7681-E30CC7D1E1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F46694-B2C7-2381-B676-0C97A89DD6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6550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826FCB-A17F-C905-7AD6-5D95C12D6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3C6610-373B-B81D-664F-C0FFB751AA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C097AD-E912-3E26-BCC6-0CE6FA8EAF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00494-65E1-4437-BEAA-0CDE58256F51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F733DB-75BF-70B7-3438-81E053201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C6A78-E138-3808-DD83-12AAA7079B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194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17EE8A-AD2B-CF9C-B6C0-2957243C7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B7C9A4-EDDC-5D71-08DC-FED7CF61E7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ED596F-6A22-9446-E0D0-022415E355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3998A-C534-4E09-A5FA-DACE38ABDCAC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0260B-E4C3-A490-C4AD-EC0F36A351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BFD48-5507-78BD-555D-E4A23FACC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05203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9A048-107F-20D1-BA5B-03970F368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AD9FB-8567-2EB0-EB95-8067796749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DEE088-4D04-71D6-85B6-D1A40FDD8F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AB5E60-B11B-CCE5-100E-57ADE1A979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CDFA8-CDCE-44D7-88B1-2790156D4E97}" type="datetime1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C04ED-40EC-8C0C-00C0-A423BB2705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27BBB0-7341-97DB-56AA-115905C5D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7935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D06FEC-2469-E4E2-600B-E54156E7B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4A9FA-0C8B-1CC6-8068-B54D5D1250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8B01D44-22DF-3ADE-02A0-73125DEBE4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986478-7AD4-2B59-61A8-4071426864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057229-1B33-350F-E80F-344A624185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47AD65-BF0D-0F00-EBBA-46E2F6585C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E564D-8541-45FF-9E5F-4756FF01F4A2}" type="datetime1">
              <a:rPr lang="en-GB" smtClean="0"/>
              <a:t>28/09/2025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CC227E-E1DD-8B8B-1F8A-832EC748F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60664CF-FE32-C652-9BE4-7069763EC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52060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CD1CC-3135-7614-4201-1EB1FA9E11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78AC6F-6EBF-4FB9-2FA8-6EF7DC6D91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C876A7-37F1-4951-9E3B-6964D8FF2869}" type="datetime1">
              <a:rPr lang="en-GB" smtClean="0"/>
              <a:t>28/09/2025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C0F4C82-72F2-0DEE-BAEE-109BAD62C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F2F953-AAF7-9EF6-BB1F-F3170A2FBC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6205182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93A45B-F9DE-E537-E646-0BDC44AFA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D65467-E429-462A-95FC-F19426D53F3A}" type="datetime1">
              <a:rPr lang="en-GB" smtClean="0"/>
              <a:t>28/09/2025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D08237-4E86-CD30-1965-28F7E911E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A97370-2844-9549-5FEF-37C2A14DDF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447319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A7B27E-2787-4E70-3628-F75C38F3E4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5CD42-B1DE-C16A-7DF9-D8530B08A3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E3AFCE-0F04-2963-137A-3F96678D2C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2E9369-E9EC-273E-B924-5DC1397F79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82FA51-FEAC-4A20-9A2C-8374000E619C}" type="datetime1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F683ABA-24AB-D026-A4BD-E1FBCCD3D4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1DA30F-9D52-59DA-952C-9B8B0F4F2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1722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75D7A-2140-979D-3D56-8F9004079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E31BE0-5D78-5DB2-8B30-7CBE894020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68B0A5-52B1-B13E-03F1-D575AE732E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4D846-FE81-0FC2-AE2E-0D64EF3A15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369741-77D7-4490-A730-4F795E9AC633}" type="datetime1">
              <a:rPr lang="en-GB" smtClean="0"/>
              <a:t>28/09/2025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E5FAC6-3F0B-3E56-AA88-26D7E87E1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2D8A04-0D14-C2ED-5457-FE9B0A0B2A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6132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AADFF-28FF-59A7-A250-7F071C1F55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A57BE8-D014-B35C-7819-B9F961C1BF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0B6699-D15D-0990-11E3-8BAEC00A76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E375D7-F806-4F9C-BC1E-15ACD7E9B839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20FBE3-F8F7-C95C-0DF2-CEA3B54839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35EDB4-AC55-9DC1-B940-6180468C4E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683909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FA02D83-BF4A-4612-EF2B-1E06867FF5D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45C12A-2617-38EF-910A-264A3D737B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25D4A3-A3D4-C6D3-86D1-98D84474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F5E7BB-A650-4B0C-AD43-5D63C378D3D3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E781BA-7F44-03CE-C6AB-AEAA09A12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C5B1F9-87F9-3B93-69CA-41B0814DBB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88361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26DD038-BD64-D619-CF18-A0B6C603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036CA9-5325-34F4-1F68-14C4B50167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1840D-562A-8510-0A68-4ED14980A6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C6FADE-3B3B-4CE7-998F-E3A1B6FBA3D5}" type="datetime1">
              <a:rPr lang="en-GB" smtClean="0"/>
              <a:t>28/09/2025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B5833D-77ED-88B3-B1F4-9FD35D6AC8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AA8DCB-4407-14FB-3D2B-775C58DD8B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AF57950-6F09-44D1-B535-8938A08DFA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2177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3" name="Group 1032">
            <a:extLst>
              <a:ext uri="{FF2B5EF4-FFF2-40B4-BE49-F238E27FC236}">
                <a16:creationId xmlns:a16="http://schemas.microsoft.com/office/drawing/2014/main" id="{3B337C2F-F4B9-764C-45E5-86A1306E17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0176" y="5338644"/>
            <a:ext cx="12202176" cy="1519355"/>
            <a:chOff x="-10176" y="5338644"/>
            <a:chExt cx="12202176" cy="1519355"/>
          </a:xfrm>
        </p:grpSpPr>
        <p:sp>
          <p:nvSpPr>
            <p:cNvPr id="1034" name="Rectangle 1033">
              <a:extLst>
                <a:ext uri="{FF2B5EF4-FFF2-40B4-BE49-F238E27FC236}">
                  <a16:creationId xmlns:a16="http://schemas.microsoft.com/office/drawing/2014/main" id="{DE1E11FF-4A87-A65F-DAEC-E20057A3F9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5331238" y="-2767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5" name="Rectangle 1034">
              <a:extLst>
                <a:ext uri="{FF2B5EF4-FFF2-40B4-BE49-F238E27FC236}">
                  <a16:creationId xmlns:a16="http://schemas.microsoft.com/office/drawing/2014/main" id="{1719AAC3-64F6-CEDF-0B56-5C0C6BD3C6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 flipV="1">
              <a:off x="8906919" y="3566802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6" name="Rectangle 1035">
              <a:extLst>
                <a:ext uri="{FF2B5EF4-FFF2-40B4-BE49-F238E27FC236}">
                  <a16:creationId xmlns:a16="http://schemas.microsoft.com/office/drawing/2014/main" id="{BA0DE637-E8FB-63A7-A5E2-E28DBE1A41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 flipV="1">
              <a:off x="3921534" y="1406934"/>
              <a:ext cx="1519355" cy="9382775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9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4CED7F1-5EBC-457B-A2BE-FE8C242DEB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5595614"/>
            <a:ext cx="6850488" cy="913975"/>
          </a:xfrm>
        </p:spPr>
        <p:txBody>
          <a:bodyPr anchor="ctr">
            <a:normAutofit/>
          </a:bodyPr>
          <a:lstStyle/>
          <a:p>
            <a:pPr algn="l"/>
            <a:r>
              <a:rPr lang="fr-CH" sz="2700">
                <a:solidFill>
                  <a:srgbClr val="FFFFFF"/>
                </a:solidFill>
              </a:rPr>
              <a:t>Predictive maintenance using ML for printheads</a:t>
            </a:r>
            <a:endParaRPr lang="en-GB" sz="270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F77373E-9FB0-2B72-FD8C-36A8E6F8B5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27225" y="5259869"/>
            <a:ext cx="3627014" cy="1676901"/>
          </a:xfrm>
        </p:spPr>
        <p:txBody>
          <a:bodyPr anchor="ctr">
            <a:normAutofit/>
          </a:bodyPr>
          <a:lstStyle/>
          <a:p>
            <a:pPr algn="r"/>
            <a:r>
              <a:rPr lang="fr-CH" sz="1300" dirty="0">
                <a:solidFill>
                  <a:srgbClr val="FFFFFF"/>
                </a:solidFill>
              </a:rPr>
              <a:t>Anthony Atallah</a:t>
            </a:r>
          </a:p>
          <a:p>
            <a:pPr algn="r"/>
            <a:r>
              <a:rPr lang="fr-CH" sz="1300" u="sng" dirty="0">
                <a:solidFill>
                  <a:srgbClr val="FFFFFF"/>
                </a:solidFill>
              </a:rPr>
              <a:t>Profs encadrant: </a:t>
            </a:r>
          </a:p>
          <a:p>
            <a:pPr algn="r"/>
            <a:r>
              <a:rPr lang="fr-CH" sz="1300" dirty="0" err="1">
                <a:solidFill>
                  <a:srgbClr val="FFFFFF"/>
                </a:solidFill>
              </a:rPr>
              <a:t>M.Wolf</a:t>
            </a:r>
            <a:r>
              <a:rPr lang="fr-CH" sz="1300" dirty="0">
                <a:solidFill>
                  <a:srgbClr val="FFFFFF"/>
                </a:solidFill>
              </a:rPr>
              <a:t> Beat</a:t>
            </a:r>
          </a:p>
          <a:p>
            <a:pPr algn="r"/>
            <a:r>
              <a:rPr lang="fr-CH" sz="1300" dirty="0" err="1">
                <a:solidFill>
                  <a:srgbClr val="FFFFFF"/>
                </a:solidFill>
              </a:rPr>
              <a:t>M.Rodriguez</a:t>
            </a:r>
            <a:r>
              <a:rPr lang="fr-CH" sz="1300" dirty="0">
                <a:solidFill>
                  <a:srgbClr val="FFFFFF"/>
                </a:solidFill>
              </a:rPr>
              <a:t> Llorente Fernando</a:t>
            </a:r>
          </a:p>
          <a:p>
            <a:pPr algn="r"/>
            <a:r>
              <a:rPr lang="fr-CH" sz="1300" dirty="0">
                <a:solidFill>
                  <a:srgbClr val="FFFFFF"/>
                </a:solidFill>
              </a:rPr>
              <a:t>M.</a:t>
            </a:r>
            <a:r>
              <a:rPr lang="it-IT" sz="1300" dirty="0">
                <a:solidFill>
                  <a:srgbClr val="FFFFFF"/>
                </a:solidFill>
              </a:rPr>
              <a:t>Balestra Gioele</a:t>
            </a:r>
            <a:endParaRPr lang="en-GB" sz="1300" dirty="0">
              <a:solidFill>
                <a:srgbClr val="FFFFFF"/>
              </a:solidFill>
            </a:endParaRPr>
          </a:p>
        </p:txBody>
      </p:sp>
      <p:pic>
        <p:nvPicPr>
          <p:cNvPr id="1028" name="Picture 4" descr="HES-SO - HES-SO Genève - Haute école">
            <a:extLst>
              <a:ext uri="{FF2B5EF4-FFF2-40B4-BE49-F238E27FC236}">
                <a16:creationId xmlns:a16="http://schemas.microsoft.com/office/drawing/2014/main" id="{F5E0A0C9-7AA1-BE21-3DA1-307A59ADD20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85177" y="2017386"/>
            <a:ext cx="5082847" cy="13862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our partner for research, innovation and education in digital printing -  HEIA-FR">
            <a:extLst>
              <a:ext uri="{FF2B5EF4-FFF2-40B4-BE49-F238E27FC236}">
                <a16:creationId xmlns:a16="http://schemas.microsoft.com/office/drawing/2014/main" id="{C851D528-E646-2378-DAEB-C5CA28927DD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234184" y="1872051"/>
            <a:ext cx="5081516" cy="16769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86EA82-46EE-B098-EB3E-AAD9ED6778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>
                <a:solidFill>
                  <a:srgbClr val="FFFFFF"/>
                </a:solidFill>
              </a:rPr>
              <a:pPr>
                <a:spcAft>
                  <a:spcPts val="600"/>
                </a:spcAft>
              </a:pPr>
              <a:t>1</a:t>
            </a:fld>
            <a:endParaRPr lang="en-GB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9723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4" name="Rectangle 1033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3EE988-CCCA-9CBC-884D-20A9551B3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Context</a:t>
            </a:r>
          </a:p>
        </p:txBody>
      </p:sp>
      <p:sp>
        <p:nvSpPr>
          <p:cNvPr id="1036" name="Rectangle 1035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739A946-697F-8EAD-A29F-DD65A46E4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rtlCol="0" anchor="ctr" anchorCtr="0" compatLnSpc="1">
            <a:prstTxWarp prst="textNoShape">
              <a:avLst/>
            </a:prstTxWarp>
            <a:normAutofit/>
          </a:bodyPr>
          <a:lstStyle/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/>
              <a:t>Leader in innovative inkjet and digital printing (2D, 3D, biomedical, electronic).</a:t>
            </a:r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endParaRPr lang="en-US" dirty="0"/>
          </a:p>
          <a:p>
            <a:pPr lvl="0" fontAlgn="base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dirty="0"/>
              <a:t>Expertise across the entire chain: inks, print heads, processes, pre/post-print treatments.</a:t>
            </a:r>
          </a:p>
        </p:txBody>
      </p:sp>
      <p:sp>
        <p:nvSpPr>
          <p:cNvPr id="1038" name="Rectangle 1037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0" name="Rectangle 1039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2" name="Rectangle 1041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9" name="Picture 5" descr="2023 11 24 Iprint 027">
            <a:extLst>
              <a:ext uri="{FF2B5EF4-FFF2-40B4-BE49-F238E27FC236}">
                <a16:creationId xmlns:a16="http://schemas.microsoft.com/office/drawing/2014/main" id="{708E3B86-35B4-27F5-3D64-CC92B7CB8D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982946"/>
            <a:ext cx="5628018" cy="26592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A91CE9-ED8F-E5B7-B88F-0E396E975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pic>
        <p:nvPicPr>
          <p:cNvPr id="3" name="Picture 2" descr="Your partner for research, innovation and education in digital printing -  HEIA-FR">
            <a:extLst>
              <a:ext uri="{FF2B5EF4-FFF2-40B4-BE49-F238E27FC236}">
                <a16:creationId xmlns:a16="http://schemas.microsoft.com/office/drawing/2014/main" id="{1431A5B8-BA0D-E416-188F-BA171CE91A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53396" y="169198"/>
            <a:ext cx="3657607" cy="12070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325082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6" name="Rectangle 2055">
            <a:extLst>
              <a:ext uri="{FF2B5EF4-FFF2-40B4-BE49-F238E27FC236}">
                <a16:creationId xmlns:a16="http://schemas.microsoft.com/office/drawing/2014/main" id="{DBC6133C-0615-4CE4-9132-37E609A9BD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54EDC7-4F9E-9EA8-F964-73FC551CD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5064" y="525982"/>
            <a:ext cx="4282983" cy="1200361"/>
          </a:xfrm>
        </p:spPr>
        <p:txBody>
          <a:bodyPr anchor="b">
            <a:normAutofit/>
          </a:bodyPr>
          <a:lstStyle/>
          <a:p>
            <a:r>
              <a:rPr lang="fr-CH" sz="3600" dirty="0" err="1"/>
              <a:t>Problematic</a:t>
            </a:r>
            <a:endParaRPr lang="en-GB" sz="3600" dirty="0"/>
          </a:p>
        </p:txBody>
      </p:sp>
      <p:sp>
        <p:nvSpPr>
          <p:cNvPr id="2058" name="Rectangle 2057">
            <a:extLst>
              <a:ext uri="{FF2B5EF4-FFF2-40B4-BE49-F238E27FC236}">
                <a16:creationId xmlns:a16="http://schemas.microsoft.com/office/drawing/2014/main" id="{169CC832-2974-4E8D-90ED-3E2941BA73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16533" y="1944913"/>
            <a:ext cx="40233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BCACD21A-5D66-5425-6BDE-83439C12958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45066" y="2031101"/>
            <a:ext cx="4282984" cy="3511943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The performance of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printheads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deteriorates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 over time (</a:t>
            </a:r>
            <a:r>
              <a:rPr lang="fr-FR" sz="1800" dirty="0" err="1">
                <a:latin typeface="Arial" panose="020B0604020202020204" pitchFamily="34" charset="0"/>
                <a:cs typeface="Arial" panose="020B0604020202020204" pitchFamily="34" charset="0"/>
              </a:rPr>
              <a:t>defects</a:t>
            </a:r>
            <a: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  <a:t>, wear, contamination).</a:t>
            </a:r>
            <a:br>
              <a:rPr lang="fr-FR" sz="1800" dirty="0">
                <a:latin typeface="Arial" panose="020B0604020202020204" pitchFamily="34" charset="0"/>
                <a:cs typeface="Arial" panose="020B0604020202020204" pitchFamily="34" charset="0"/>
              </a:rPr>
            </a:br>
            <a:endParaRPr lang="fr-FR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Maintenance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complex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it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depends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on the condition of the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nozzles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, the type and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age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the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ink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fr-FR" alt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There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is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need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for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early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and reliable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fault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fr-FR" altLang="en-US" sz="1800" i="0" u="none" strike="noStrike" cap="none" normalizeH="0" baseline="0" dirty="0" err="1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detection</a:t>
            </a:r>
            <a:r>
              <a:rPr kumimoji="0" lang="fr-FR" altLang="en-US" sz="18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kumimoji="0" lang="en-US" altLang="en-US" sz="18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60" name="Rectangle 2059">
            <a:extLst>
              <a:ext uri="{FF2B5EF4-FFF2-40B4-BE49-F238E27FC236}">
                <a16:creationId xmlns:a16="http://schemas.microsoft.com/office/drawing/2014/main" id="{55222F96-971A-4F90-B841-6BAB416C7A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225843" y="6053360"/>
            <a:ext cx="740664" cy="15412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2" name="Rectangle 2061">
            <a:extLst>
              <a:ext uri="{FF2B5EF4-FFF2-40B4-BE49-F238E27FC236}">
                <a16:creationId xmlns:a16="http://schemas.microsoft.com/office/drawing/2014/main" id="{08980754-6F4B-43C9-B9BE-127B6BED65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904923" y="215201"/>
            <a:ext cx="740664" cy="1183349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4" name="Rectangle 2063">
            <a:extLst>
              <a:ext uri="{FF2B5EF4-FFF2-40B4-BE49-F238E27FC236}">
                <a16:creationId xmlns:a16="http://schemas.microsoft.com/office/drawing/2014/main" id="{2C1BBA94-3F40-40AA-8BB9-E69E25E537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96793" y="354959"/>
            <a:ext cx="6184973" cy="591521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1" name="Picture 3" descr="Inkjet Printheads | KYOCERA">
            <a:extLst>
              <a:ext uri="{FF2B5EF4-FFF2-40B4-BE49-F238E27FC236}">
                <a16:creationId xmlns:a16="http://schemas.microsoft.com/office/drawing/2014/main" id="{642B582A-055F-4BFF-40CE-CD3843E6BC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987738" y="1729685"/>
            <a:ext cx="5628018" cy="31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A6D886-4238-DB07-3B6E-312777F30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56399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464632-14D7-FA07-2264-1473E73E5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69" name="Rectangle 2068">
            <a:extLst>
              <a:ext uri="{FF2B5EF4-FFF2-40B4-BE49-F238E27FC236}">
                <a16:creationId xmlns:a16="http://schemas.microsoft.com/office/drawing/2014/main" id="{AAAE94E3-A7DB-4868-B1E3-E49703488B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3D7AC4-16F7-A343-EA41-0FADE7037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9560" y="856180"/>
            <a:ext cx="5279408" cy="1128068"/>
          </a:xfrm>
        </p:spPr>
        <p:txBody>
          <a:bodyPr anchor="ctr">
            <a:normAutofit fontScale="90000"/>
          </a:bodyPr>
          <a:lstStyle/>
          <a:p>
            <a:r>
              <a:rPr lang="fr-CH" sz="4000" dirty="0" err="1"/>
              <a:t>Available</a:t>
            </a:r>
            <a:r>
              <a:rPr lang="fr-CH" sz="4000" dirty="0"/>
              <a:t> data and ressources</a:t>
            </a:r>
            <a:endParaRPr lang="en-GB" sz="4000" dirty="0"/>
          </a:p>
        </p:txBody>
      </p:sp>
      <p:grpSp>
        <p:nvGrpSpPr>
          <p:cNvPr id="2071" name="Group 2070">
            <a:extLst>
              <a:ext uri="{FF2B5EF4-FFF2-40B4-BE49-F238E27FC236}">
                <a16:creationId xmlns:a16="http://schemas.microsoft.com/office/drawing/2014/main" id="{1DE889C7-FAD6-4397-98E2-05D5034844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1083484"/>
            <a:ext cx="355196" cy="673460"/>
            <a:chOff x="0" y="823811"/>
            <a:chExt cx="355196" cy="673460"/>
          </a:xfrm>
        </p:grpSpPr>
        <p:sp>
          <p:nvSpPr>
            <p:cNvPr id="2072" name="Rectangle 2071">
              <a:extLst>
                <a:ext uri="{FF2B5EF4-FFF2-40B4-BE49-F238E27FC236}">
                  <a16:creationId xmlns:a16="http://schemas.microsoft.com/office/drawing/2014/main" id="{F399A70F-F8CD-4992-9EF5-6CF15472E73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823811"/>
              <a:ext cx="87363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3" name="Rectangle 2072">
              <a:extLst>
                <a:ext uri="{FF2B5EF4-FFF2-40B4-BE49-F238E27FC236}">
                  <a16:creationId xmlns:a16="http://schemas.microsoft.com/office/drawing/2014/main" id="{48F4FEDC-6D80-458C-A665-075D9B9500F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59341" y="823811"/>
              <a:ext cx="195855" cy="67346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75" name="Rectangle 2074">
            <a:extLst>
              <a:ext uri="{FF2B5EF4-FFF2-40B4-BE49-F238E27FC236}">
                <a16:creationId xmlns:a16="http://schemas.microsoft.com/office/drawing/2014/main" id="{3873B707-463F-40B0-8227-E8CC6C67EB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65085" y="2123821"/>
            <a:ext cx="4975066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94564C03-F315-CC2A-22A4-FF2EBA349A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90719" y="2330505"/>
            <a:ext cx="5278066" cy="397958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For our study, we rely on two main types of resources: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Signal data: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 acoustic signals captured from the piezoelectric element, providing insight into nozzle behavior and performance.</a:t>
            </a: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endParaRPr lang="en-US" altLang="en-US" sz="20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ts val="600"/>
              </a:spcAft>
              <a:buNone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Print samples: </a:t>
            </a:r>
            <a:r>
              <a:rPr kumimoji="0" lang="en-US" altLang="en-US" sz="20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cs typeface="Arial" panose="020B0604020202020204" pitchFamily="34" charset="0"/>
              </a:rPr>
              <a:t>visual test prints.</a:t>
            </a:r>
            <a:endParaRPr kumimoji="0" lang="en-US" altLang="en-US" sz="2000" b="1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77" name="Rectangle 2076">
            <a:extLst>
              <a:ext uri="{FF2B5EF4-FFF2-40B4-BE49-F238E27FC236}">
                <a16:creationId xmlns:a16="http://schemas.microsoft.com/office/drawing/2014/main" id="{C13237C8-E62C-4F0D-A318-BD6FB6C2D1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9" name="Rectangle 2078">
            <a:extLst>
              <a:ext uri="{FF2B5EF4-FFF2-40B4-BE49-F238E27FC236}">
                <a16:creationId xmlns:a16="http://schemas.microsoft.com/office/drawing/2014/main" id="{19C9EAEA-39D0-4B0E-A0EB-51E7B26740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7447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7" descr="Surfing the Waves of Inkjet - WhatTheyThink">
            <a:extLst>
              <a:ext uri="{FF2B5EF4-FFF2-40B4-BE49-F238E27FC236}">
                <a16:creationId xmlns:a16="http://schemas.microsoft.com/office/drawing/2014/main" id="{66D0AEB6-E676-9C7D-2D62-C43BB85E4E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41256" y="581892"/>
            <a:ext cx="3281766" cy="25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81" name="Rectangle 2080">
            <a:extLst>
              <a:ext uri="{FF2B5EF4-FFF2-40B4-BE49-F238E27FC236}">
                <a16:creationId xmlns:a16="http://schemas.microsoft.com/office/drawing/2014/main" id="{8CB5D2D7-DF65-4E86-BFBA-FFB9B5ACEB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9687" y="3505479"/>
            <a:ext cx="4845488" cy="2923587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3" descr="How to Maintain and Clean UV Curable Printheads | Ink Tank">
            <a:extLst>
              <a:ext uri="{FF2B5EF4-FFF2-40B4-BE49-F238E27FC236}">
                <a16:creationId xmlns:a16="http://schemas.microsoft.com/office/drawing/2014/main" id="{5941EC38-01D8-53DC-F0F2-CB4AB8E1D89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276" b="-16"/>
          <a:stretch>
            <a:fillRect/>
          </a:stretch>
        </p:blipFill>
        <p:spPr bwMode="auto">
          <a:xfrm>
            <a:off x="7812581" y="3579959"/>
            <a:ext cx="2939115" cy="28491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1EEA30-97B5-B3A7-00CE-6EE782F5A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85070" y="6492240"/>
            <a:ext cx="105571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55396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24124B-5AA6-FE04-6AD5-055D2A408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/>
              <a:t>Project Focus</a:t>
            </a:r>
            <a:endParaRPr lang="en-GB" sz="48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2CD8C3-FD86-A48E-872E-818E9008C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fr-CH" sz="2400" b="1" dirty="0" err="1"/>
              <a:t>Simulating</a:t>
            </a:r>
            <a:r>
              <a:rPr lang="fr-CH" sz="2400" b="1" dirty="0"/>
              <a:t> </a:t>
            </a:r>
            <a:r>
              <a:rPr lang="fr-CH" sz="2400" b="1" dirty="0" err="1"/>
              <a:t>defects</a:t>
            </a:r>
            <a:r>
              <a:rPr lang="fr-CH" sz="2400" dirty="0"/>
              <a:t> by </a:t>
            </a:r>
            <a:r>
              <a:rPr lang="fr-CH" sz="2400" dirty="0" err="1"/>
              <a:t>varying</a:t>
            </a:r>
            <a:r>
              <a:rPr lang="fr-CH" sz="2400" dirty="0"/>
              <a:t> </a:t>
            </a:r>
            <a:r>
              <a:rPr lang="fr-CH" sz="2400" dirty="0" err="1"/>
              <a:t>ink</a:t>
            </a:r>
            <a:r>
              <a:rPr lang="fr-CH" sz="2400" dirty="0"/>
              <a:t> pressure </a:t>
            </a:r>
            <a:r>
              <a:rPr lang="fr-CH" sz="2400" dirty="0">
                <a:sym typeface="Wingdings" panose="05000000000000000000" pitchFamily="2" charset="2"/>
              </a:rPr>
              <a:t> </a:t>
            </a:r>
            <a:r>
              <a:rPr lang="fr-CH" sz="2400" dirty="0" err="1">
                <a:sym typeface="Wingdings" panose="05000000000000000000" pitchFamily="2" charset="2"/>
              </a:rPr>
              <a:t>this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generates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controlled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faulty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nozzle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behaviors</a:t>
            </a:r>
            <a:r>
              <a:rPr lang="fr-CH" sz="2400" dirty="0">
                <a:sym typeface="Wingdings" panose="05000000000000000000" pitchFamily="2" charset="2"/>
              </a:rPr>
              <a:t>.</a:t>
            </a:r>
          </a:p>
          <a:p>
            <a:pPr marL="0" indent="0">
              <a:buNone/>
            </a:pPr>
            <a:r>
              <a:rPr lang="en-GB" sz="2400" b="1" dirty="0">
                <a:solidFill>
                  <a:srgbClr val="FF0000"/>
                </a:solidFill>
              </a:rPr>
              <a:t>Printed pattern images</a:t>
            </a:r>
            <a:r>
              <a:rPr lang="en-GB" sz="2400" dirty="0">
                <a:solidFill>
                  <a:srgbClr val="FF0000"/>
                </a:solidFill>
              </a:rPr>
              <a:t> </a:t>
            </a:r>
            <a:r>
              <a:rPr lang="en-GB" sz="2400" dirty="0">
                <a:solidFill>
                  <a:srgbClr val="FF0000"/>
                </a:solidFill>
                <a:sym typeface="Wingdings" panose="05000000000000000000" pitchFamily="2" charset="2"/>
              </a:rPr>
              <a:t> used only as ground truth labels, via segmentation and defect detection.</a:t>
            </a:r>
            <a:endParaRPr lang="en-GB" sz="2400" b="1" dirty="0">
              <a:solidFill>
                <a:srgbClr val="FF0000"/>
              </a:solidFill>
              <a:sym typeface="Wingdings" panose="05000000000000000000" pitchFamily="2" charset="2"/>
            </a:endParaRPr>
          </a:p>
          <a:p>
            <a:pPr marL="0" indent="0">
              <a:buNone/>
            </a:pPr>
            <a:r>
              <a:rPr lang="fr-CH" sz="2400" b="1" dirty="0" err="1"/>
              <a:t>Core</a:t>
            </a:r>
            <a:r>
              <a:rPr lang="fr-CH" sz="2400" b="1" dirty="0"/>
              <a:t> </a:t>
            </a:r>
            <a:r>
              <a:rPr lang="fr-CH" sz="2400" b="1" dirty="0" err="1"/>
              <a:t>analysis</a:t>
            </a:r>
            <a:r>
              <a:rPr lang="fr-CH" sz="2400" dirty="0"/>
              <a:t> </a:t>
            </a:r>
            <a:r>
              <a:rPr lang="fr-CH" sz="2400" dirty="0">
                <a:sym typeface="Wingdings" panose="05000000000000000000" pitchFamily="2" charset="2"/>
              </a:rPr>
              <a:t> </a:t>
            </a:r>
            <a:r>
              <a:rPr lang="fr-CH" sz="2400" dirty="0" err="1">
                <a:sym typeface="Wingdings" panose="05000000000000000000" pitchFamily="2" charset="2"/>
              </a:rPr>
              <a:t>focused</a:t>
            </a:r>
            <a:r>
              <a:rPr lang="fr-CH" sz="2400" dirty="0">
                <a:sym typeface="Wingdings" panose="05000000000000000000" pitchFamily="2" charset="2"/>
              </a:rPr>
              <a:t> on </a:t>
            </a:r>
            <a:r>
              <a:rPr lang="fr-CH" sz="2400" dirty="0" err="1">
                <a:sym typeface="Wingdings" panose="05000000000000000000" pitchFamily="2" charset="2"/>
              </a:rPr>
              <a:t>acoustic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signals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recorded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from</a:t>
            </a:r>
            <a:r>
              <a:rPr lang="fr-CH" sz="2400" dirty="0">
                <a:sym typeface="Wingdings" panose="05000000000000000000" pitchFamily="2" charset="2"/>
              </a:rPr>
              <a:t> the </a:t>
            </a:r>
            <a:r>
              <a:rPr lang="fr-CH" sz="2400" dirty="0" err="1">
                <a:sym typeface="Wingdings" panose="05000000000000000000" pitchFamily="2" charset="2"/>
              </a:rPr>
              <a:t>piezoelectric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elements</a:t>
            </a:r>
            <a:r>
              <a:rPr lang="fr-CH" sz="2400" dirty="0">
                <a:sym typeface="Wingdings" panose="05000000000000000000" pitchFamily="2" charset="2"/>
              </a:rPr>
              <a:t>, to </a:t>
            </a:r>
            <a:r>
              <a:rPr lang="fr-CH" sz="2400" dirty="0" err="1">
                <a:sym typeface="Wingdings" panose="05000000000000000000" pitchFamily="2" charset="2"/>
              </a:rPr>
              <a:t>detect</a:t>
            </a:r>
            <a:r>
              <a:rPr lang="fr-CH" sz="2400" dirty="0">
                <a:sym typeface="Wingdings" panose="05000000000000000000" pitchFamily="2" charset="2"/>
              </a:rPr>
              <a:t> and </a:t>
            </a:r>
            <a:r>
              <a:rPr lang="fr-CH" sz="2400" dirty="0" err="1">
                <a:sym typeface="Wingdings" panose="05000000000000000000" pitchFamily="2" charset="2"/>
              </a:rPr>
              <a:t>classify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nozzle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jetting</a:t>
            </a:r>
            <a:r>
              <a:rPr lang="fr-CH" sz="2400" dirty="0">
                <a:sym typeface="Wingdings" panose="05000000000000000000" pitchFamily="2" charset="2"/>
              </a:rPr>
              <a:t> </a:t>
            </a:r>
            <a:r>
              <a:rPr lang="fr-CH" sz="2400" dirty="0" err="1">
                <a:sym typeface="Wingdings" panose="05000000000000000000" pitchFamily="2" charset="2"/>
              </a:rPr>
              <a:t>status</a:t>
            </a:r>
            <a:endParaRPr lang="en-GB" sz="2400" dirty="0">
              <a:sym typeface="Wingdings" panose="05000000000000000000" pitchFamily="2" charset="2"/>
            </a:endParaRP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CD7B19-CFF2-65AA-BDCD-4952F52ABF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879269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75C062-0A11-71ED-9C0A-546A11008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9DE199-244C-5A06-505E-F69925065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FB9651D-D6E9-5116-5CC2-3AAB828356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C79A5D3-2993-CEA3-DB57-0B252BC4C1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75D5D48-A77A-0260-4133-94A386521F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2D81675-682A-EB15-7781-E5021670F9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947B2A1A-7C94-E012-6DE4-3A28A8FF11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5EB1A-B437-C61B-232F-DA6C495F1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r>
              <a:rPr lang="fr-CH" sz="4800" dirty="0"/>
              <a:t>Objectives</a:t>
            </a:r>
            <a:endParaRPr lang="en-GB" sz="4800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FD41202D-4BB0-8A34-0DEE-C3C6B61337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8D9A2AE-3341-1E46-5D3C-E0B1ADBDD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6</a:t>
            </a:fld>
            <a:endParaRPr lang="en-GB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AA4E664-40B2-BFD1-C519-B1359D7ACA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31525" y="2509803"/>
            <a:ext cx="1045141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1. Acoustic-based classifiers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 features (magnitude, phase, spectral, embeddings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etc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…).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 a model.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Binary classification.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2. Relate signals to defect mechanisms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Explore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link between applied pressure and acoustic signature.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3. Dynamic prediction of defects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Move from static classification → temporal modeling.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 LSTMs/GRU/Temporal CNNs.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1800" dirty="0">
                <a:latin typeface="Arial" panose="020B0604020202020204" pitchFamily="34" charset="0"/>
              </a:rPr>
              <a:t>Predict jetting status.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 Proof-of-concept demonstrator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Input: acoustic data → Output: jetting status / early warnings.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 accuracy across nozzles.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965489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8858-6A81-9D7D-C75F-4A482F221E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/>
              <a:t>Collaboration and next steps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A60E4D35-4F28-FB59-6135-99ACD801DC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3660" y="2599509"/>
            <a:ext cx="10143668" cy="3435531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rPr>
              <a:t>Access image segmentation and classification algorithm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 generate reliable ground-truth labels.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 Validate </a:t>
            </a:r>
            <a:r>
              <a:rPr lang="en-US" altLang="en-US" sz="2400" dirty="0" err="1">
                <a:latin typeface="Arial" panose="020B0604020202020204" pitchFamily="34" charset="0"/>
                <a:sym typeface="Wingdings" panose="05000000000000000000" pitchFamily="2" charset="2"/>
              </a:rPr>
              <a:t>acousticmodels</a:t>
            </a:r>
            <a:r>
              <a:rPr lang="en-US" altLang="en-US" sz="2400" dirty="0">
                <a:latin typeface="Arial" panose="020B0604020202020204" pitchFamily="34" charset="0"/>
                <a:sym typeface="Wingdings" panose="05000000000000000000" pitchFamily="2" charset="2"/>
              </a:rPr>
              <a:t>.</a:t>
            </a:r>
          </a:p>
          <a:p>
            <a:pPr marR="0" lvl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 typeface="Wingdings" panose="05000000000000000000" pitchFamily="2" charset="2"/>
              <a:buChar char="à"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  <a:sym typeface="Wingdings" panose="05000000000000000000" pitchFamily="2" charset="2"/>
              </a:rPr>
              <a:t>Directly support anomaly detection/predictive maintenance research.</a:t>
            </a:r>
            <a:endParaRPr kumimoji="0" lang="en-US" altLang="en-US" sz="240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72F81F-EB38-9EAB-7B7E-FF2BA3F604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18134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624A5B-E4FD-3ADF-CE1E-4D994D0C6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FF6DED3-A360-5B4B-F35A-03CC600858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99121C-F641-BE74-BB3A-D4FF047194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GB" sz="5400" dirty="0"/>
              <a:t>Collaboration and next steps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EB38FFC3-2348-4C62-F1C0-1EAB1E8827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BD1BF861-55D0-5F35-9E6F-B075A37ECB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9E600DE7-1FDE-413F-560E-FE877B1530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A78C96EF-9803-7D72-49D9-136157ACF5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908201-4D44-DD48-C8A3-BABBD48A4C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8</a:t>
            </a:fld>
            <a:endParaRPr lang="en-GB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0BB04155-7A87-0F78-3A16-47A09EBA188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8122" y="2611993"/>
            <a:ext cx="7735380" cy="3410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19119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9934BC2-9B82-F7E2-73CF-2798C965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79A7CF-01AF-4178-9369-94E0C90EB0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2903A41-9299-7AB9-08A5-B1D4067F5D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67909" y="2023110"/>
            <a:ext cx="2469624" cy="284607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1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Gantt Chart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9413ED5-9ED4-4772-BCE4-2BCAE6B12E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433973" y="-827233"/>
            <a:ext cx="1715478" cy="8583421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04357C93-F0CB-4A1C-8F77-4E90637898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2085" y="664308"/>
            <a:ext cx="8082632" cy="560034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9D7C7BAA-D5EE-9939-EA54-7D7E38A717A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45238" y="1134435"/>
            <a:ext cx="7608304" cy="4660086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90F533E9-6690-41A8-A372-4C6C622D02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950447" y="3392097"/>
            <a:ext cx="1719072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0E8F2-8D2D-E254-3D19-5891C19024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599" y="6492240"/>
            <a:ext cx="3126933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9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19670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DA718D0-4865-4629-8134-44F68D41D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5167ED7-6315-43AB-B1B6-C326D5FD8F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EF4D8839-FB03-487D-ACC8-8BFEDD4FEB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0EF75023-9A3B-42FC-B704-61A8F7BEF4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CBC4F608-B4B8-48C3-9572-C0F061B1CD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922919"/>
            <a:ext cx="11111729" cy="5461252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FC124-D717-5D25-915C-F21905AD76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9304" y="2902913"/>
            <a:ext cx="9849751" cy="30321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fr-CH" sz="2000" dirty="0"/>
          </a:p>
          <a:p>
            <a:pPr marL="0" indent="0">
              <a:buNone/>
            </a:pPr>
            <a:endParaRPr lang="en-GB" sz="2000" b="1" dirty="0"/>
          </a:p>
          <a:p>
            <a:pPr marL="0" indent="0">
              <a:buNone/>
            </a:pPr>
            <a:r>
              <a:rPr lang="en-GB" sz="2000" b="1" dirty="0"/>
              <a:t>Thank you for your listening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5692C-BE1D-67A7-8BBF-475E2FE7F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522114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 smtClean="0"/>
              <a:pPr>
                <a:spcAft>
                  <a:spcPts val="600"/>
                </a:spcAft>
              </a:pPr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20227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D69101-9051-C6B8-4E4D-7EEAD643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81" name="Rectangle 2080">
            <a:extLst>
              <a:ext uri="{FF2B5EF4-FFF2-40B4-BE49-F238E27FC236}">
                <a16:creationId xmlns:a16="http://schemas.microsoft.com/office/drawing/2014/main" id="{BDF1A630-2A9B-41A0-92F9-FDA261070E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083" name="Group 2082">
            <a:extLst>
              <a:ext uri="{FF2B5EF4-FFF2-40B4-BE49-F238E27FC236}">
                <a16:creationId xmlns:a16="http://schemas.microsoft.com/office/drawing/2014/main" id="{19A6B5CE-CB1D-48EE-8B43-E952235C83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-2340441" y="2666183"/>
            <a:ext cx="5860051" cy="527712"/>
            <a:chOff x="6081624" y="1998368"/>
            <a:chExt cx="5613457" cy="782175"/>
          </a:xfrm>
          <a:solidFill>
            <a:schemeClr val="accent4"/>
          </a:solidFill>
        </p:grpSpPr>
        <p:sp>
          <p:nvSpPr>
            <p:cNvPr id="2084" name="Rectangle 2083">
              <a:extLst>
                <a:ext uri="{FF2B5EF4-FFF2-40B4-BE49-F238E27FC236}">
                  <a16:creationId xmlns:a16="http://schemas.microsoft.com/office/drawing/2014/main" id="{E3F3EAA5-4E15-400B-BBA3-82B3F49A21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5" name="Rectangle 2084">
              <a:extLst>
                <a:ext uri="{FF2B5EF4-FFF2-40B4-BE49-F238E27FC236}">
                  <a16:creationId xmlns:a16="http://schemas.microsoft.com/office/drawing/2014/main" id="{72BA2E40-BE9B-4C54-9CDD-40EE804CCE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6081624" y="1998844"/>
              <a:ext cx="5372968" cy="7816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87" name="Rectangle 2086">
            <a:extLst>
              <a:ext uri="{FF2B5EF4-FFF2-40B4-BE49-F238E27FC236}">
                <a16:creationId xmlns:a16="http://schemas.microsoft.com/office/drawing/2014/main" id="{0DA909B4-15FF-46A6-8A7F-7AEF977FE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528" y="517897"/>
            <a:ext cx="11111729" cy="585796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65B44A-49DF-A891-66C9-449B3BC43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57025" y="922644"/>
            <a:ext cx="5040285" cy="1169585"/>
          </a:xfrm>
        </p:spPr>
        <p:txBody>
          <a:bodyPr anchor="b">
            <a:normAutofit/>
          </a:bodyPr>
          <a:lstStyle/>
          <a:p>
            <a:r>
              <a:rPr lang="en-GB" sz="3700" dirty="0"/>
              <a:t>Annex</a:t>
            </a:r>
          </a:p>
        </p:txBody>
      </p:sp>
      <p:sp>
        <p:nvSpPr>
          <p:cNvPr id="2089" name="Rectangle 2088">
            <a:extLst>
              <a:ext uri="{FF2B5EF4-FFF2-40B4-BE49-F238E27FC236}">
                <a16:creationId xmlns:a16="http://schemas.microsoft.com/office/drawing/2014/main" id="{1382A32C-5B0C-4B1C-A074-76C6DBCC9F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55714" y="2263365"/>
            <a:ext cx="4937760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4" name="Content Placeholder 2053">
            <a:extLst>
              <a:ext uri="{FF2B5EF4-FFF2-40B4-BE49-F238E27FC236}">
                <a16:creationId xmlns:a16="http://schemas.microsoft.com/office/drawing/2014/main" id="{91E2B66D-C727-FE67-80A5-8E57D76C5F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55715" y="2508105"/>
            <a:ext cx="5040285" cy="3632493"/>
          </a:xfrm>
        </p:spPr>
        <p:txBody>
          <a:bodyPr anchor="ctr">
            <a:normAutofit/>
          </a:bodyPr>
          <a:lstStyle/>
          <a:p>
            <a:endParaRPr lang="en-US" sz="20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9BD5802-7BD0-4EB2-F080-5DCDEA51ED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6478"/>
          <a:stretch>
            <a:fillRect/>
          </a:stretch>
        </p:blipFill>
        <p:spPr>
          <a:xfrm>
            <a:off x="1369465" y="2608833"/>
            <a:ext cx="4412783" cy="2192956"/>
          </a:xfrm>
          <a:prstGeom prst="rect">
            <a:avLst/>
          </a:prstGeom>
        </p:spPr>
      </p:pic>
      <p:pic>
        <p:nvPicPr>
          <p:cNvPr id="2052" name="Picture 4" descr="Suppression and Utilization of Satellite Droplets for Inkjet Printing: A Review">
            <a:extLst>
              <a:ext uri="{FF2B5EF4-FFF2-40B4-BE49-F238E27FC236}">
                <a16:creationId xmlns:a16="http://schemas.microsoft.com/office/drawing/2014/main" id="{17BFEAD7-8389-8785-F3F9-EE29096A28A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44" b="65552"/>
          <a:stretch>
            <a:fillRect/>
          </a:stretch>
        </p:blipFill>
        <p:spPr bwMode="auto">
          <a:xfrm>
            <a:off x="589424" y="4801789"/>
            <a:ext cx="7144694" cy="1223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 descr="Nozzle dropout or deflection are not resolved in the test print  | About trouble | FAQ | MIMAKI">
            <a:extLst>
              <a:ext uri="{FF2B5EF4-FFF2-40B4-BE49-F238E27FC236}">
                <a16:creationId xmlns:a16="http://schemas.microsoft.com/office/drawing/2014/main" id="{543DC3F4-17A9-6E01-0039-24D8794C62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4165"/>
          <a:stretch>
            <a:fillRect/>
          </a:stretch>
        </p:blipFill>
        <p:spPr bwMode="auto">
          <a:xfrm>
            <a:off x="7467446" y="2942704"/>
            <a:ext cx="3347561" cy="32135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1F0A9B-023F-BBED-7C4B-C239D7CA86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GB"/>
              <a:pPr>
                <a:spcAft>
                  <a:spcPts val="600"/>
                </a:spcAft>
              </a:pPr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4749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E8F6699-E88B-6F9F-B412-1A3C7C6D90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32" name="Rectangle 5131">
            <a:extLst>
              <a:ext uri="{FF2B5EF4-FFF2-40B4-BE49-F238E27FC236}">
                <a16:creationId xmlns:a16="http://schemas.microsoft.com/office/drawing/2014/main" id="{B5A17601-26C9-ED7E-2C3F-ACAC62CC5A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0BE5C-9861-7A5F-8141-2FEF58C786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3810" y="3023754"/>
            <a:ext cx="4900144" cy="2736965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Annex</a:t>
            </a:r>
          </a:p>
        </p:txBody>
      </p:sp>
      <p:grpSp>
        <p:nvGrpSpPr>
          <p:cNvPr id="5134" name="Group 5133">
            <a:extLst>
              <a:ext uri="{FF2B5EF4-FFF2-40B4-BE49-F238E27FC236}">
                <a16:creationId xmlns:a16="http://schemas.microsoft.com/office/drawing/2014/main" id="{8957E7AF-0EC0-C03C-9819-7515CF4A18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3048031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5135" name="Rectangle 5134">
              <a:extLst>
                <a:ext uri="{FF2B5EF4-FFF2-40B4-BE49-F238E27FC236}">
                  <a16:creationId xmlns:a16="http://schemas.microsoft.com/office/drawing/2014/main" id="{4890A88E-415D-7AF8-CF02-2E94385DDF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6" name="Rectangle 5135">
              <a:extLst>
                <a:ext uri="{FF2B5EF4-FFF2-40B4-BE49-F238E27FC236}">
                  <a16:creationId xmlns:a16="http://schemas.microsoft.com/office/drawing/2014/main" id="{C2D6B448-0ED9-4388-EB28-2C29CA3175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37" name="Rectangle 5136">
              <a:extLst>
                <a:ext uri="{FF2B5EF4-FFF2-40B4-BE49-F238E27FC236}">
                  <a16:creationId xmlns:a16="http://schemas.microsoft.com/office/drawing/2014/main" id="{D275E42A-22C1-F6EE-AEFF-5A5EC15A30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C00863-817D-F88A-07CF-F58CEDC13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92240"/>
            <a:ext cx="1871749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BAF57950-6F09-44D1-B535-8938A08DFA2B}" type="slidenum">
              <a:rPr lang="en-US" smtClean="0">
                <a:solidFill>
                  <a:schemeClr val="tx1">
                    <a:tint val="75000"/>
                  </a:schemeClr>
                </a:solidFill>
              </a:rPr>
              <a:pPr>
                <a:spcAft>
                  <a:spcPts val="600"/>
                </a:spcAft>
              </a:pPr>
              <a:t>12</a:t>
            </a:fld>
            <a:endParaRPr lang="en-US">
              <a:solidFill>
                <a:schemeClr val="tx1">
                  <a:tint val="75000"/>
                </a:schemeClr>
              </a:solidFill>
            </a:endParaRPr>
          </a:p>
        </p:txBody>
      </p:sp>
      <p:sp>
        <p:nvSpPr>
          <p:cNvPr id="5139" name="Rectangle 5138">
            <a:extLst>
              <a:ext uri="{FF2B5EF4-FFF2-40B4-BE49-F238E27FC236}">
                <a16:creationId xmlns:a16="http://schemas.microsoft.com/office/drawing/2014/main" id="{EE29A897-0FBC-DC8F-F856-9FDFA1DC1C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0697670" y="0"/>
            <a:ext cx="149433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41" name="Rectangle 5140">
            <a:extLst>
              <a:ext uri="{FF2B5EF4-FFF2-40B4-BE49-F238E27FC236}">
                <a16:creationId xmlns:a16="http://schemas.microsoft.com/office/drawing/2014/main" id="{F89F7841-DC57-A0DA-B1B5-354A31C4A0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257770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127" name="Picture 7" descr="Surfing the Waves of Inkjet - WhatTheyThink">
            <a:extLst>
              <a:ext uri="{FF2B5EF4-FFF2-40B4-BE49-F238E27FC236}">
                <a16:creationId xmlns:a16="http://schemas.microsoft.com/office/drawing/2014/main" id="{0B70A110-27D6-653D-9F73-704DE37A7D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14041" y="471748"/>
            <a:ext cx="3325090" cy="255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43" name="Rectangle 5142">
            <a:extLst>
              <a:ext uri="{FF2B5EF4-FFF2-40B4-BE49-F238E27FC236}">
                <a16:creationId xmlns:a16="http://schemas.microsoft.com/office/drawing/2014/main" id="{C0A7B869-2619-BE1C-B7AE-A5EC252601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58000" y="3462252"/>
            <a:ext cx="4837176" cy="297996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Inkjet printer types | IJP Central | KEYENCE America">
            <a:extLst>
              <a:ext uri="{FF2B5EF4-FFF2-40B4-BE49-F238E27FC236}">
                <a16:creationId xmlns:a16="http://schemas.microsoft.com/office/drawing/2014/main" id="{2BDEF77F-8084-961E-3B45-230531E6ED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510492" y="3676230"/>
            <a:ext cx="3532189" cy="25520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7572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7756</TotalTime>
  <Words>345</Words>
  <Application>Microsoft Office PowerPoint</Application>
  <PresentationFormat>Widescreen</PresentationFormat>
  <Paragraphs>63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Wingdings</vt:lpstr>
      <vt:lpstr>Office Theme</vt:lpstr>
      <vt:lpstr>Predictive maintenance using ML for printheads</vt:lpstr>
      <vt:lpstr>Context</vt:lpstr>
      <vt:lpstr>Problematic</vt:lpstr>
      <vt:lpstr>Available data and ressources</vt:lpstr>
      <vt:lpstr>Project Focus</vt:lpstr>
      <vt:lpstr>Objectives</vt:lpstr>
      <vt:lpstr>Collaboration and next steps</vt:lpstr>
      <vt:lpstr>Collaboration and next steps</vt:lpstr>
      <vt:lpstr>Gantt Chart</vt:lpstr>
      <vt:lpstr>PowerPoint Presentation</vt:lpstr>
      <vt:lpstr>Annex</vt:lpstr>
      <vt:lpstr>Annex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Atallah Anthony</dc:creator>
  <cp:lastModifiedBy>Atallah Anthony</cp:lastModifiedBy>
  <cp:revision>36</cp:revision>
  <dcterms:created xsi:type="dcterms:W3CDTF">2025-08-30T15:21:43Z</dcterms:created>
  <dcterms:modified xsi:type="dcterms:W3CDTF">2025-09-28T12:15:17Z</dcterms:modified>
</cp:coreProperties>
</file>