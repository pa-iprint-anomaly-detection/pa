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1" r:id="rId11"/>
    <p:sldId id="267" r:id="rId12"/>
    <p:sldId id="268" r:id="rId13"/>
    <p:sldId id="269" r:id="rId14"/>
    <p:sldId id="270" r:id="rId15"/>
    <p:sldId id="271" r:id="rId16"/>
    <p:sldId id="272" r:id="rId17"/>
    <p:sldId id="262" r:id="rId18"/>
    <p:sldId id="278" r:id="rId19"/>
    <p:sldId id="273" r:id="rId20"/>
    <p:sldId id="274" r:id="rId21"/>
    <p:sldId id="275" r:id="rId22"/>
    <p:sldId id="276" r:id="rId23"/>
    <p:sldId id="281" r:id="rId24"/>
    <p:sldId id="282" r:id="rId25"/>
    <p:sldId id="283" r:id="rId26"/>
    <p:sldId id="277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74F3-ECEE-A376-E23E-1DC573423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9ABF4-2795-9CA4-F4DB-BAE9D0400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EC36D-7EBA-6462-1746-2ACBB0B7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C5A4C-F347-D374-3A69-421BEA7A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CE63B-B209-7413-3309-64E835C5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13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233A-ADC3-B70F-9937-230EDD74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5A315-1020-3F44-ACCA-7F8FCFDD0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CEA53-018B-3AC1-1874-ABA73A26A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409FF-46A2-6E6D-9D01-FD5D62C7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16380-A0E0-A435-B0D3-4CD93C9CB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2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2666-BD4E-6F25-BD81-D50A2CF9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B93CF-E49F-DE8F-4F67-813940AF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C6240-FB35-BD09-49D1-DDDADB77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DA47-9E32-54F1-10C7-150DB6A9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11AD0-6C22-27CA-08CB-0F030A1E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837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27E5C-BD56-B095-4380-B9E49935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C1D1B-4ED8-CF1D-7EFB-B64BA7F13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8369B-E629-FEA0-5ADC-BCE35E633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5C6EA-CEDD-BA01-577B-E328A2A6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1816A-9FC0-55E9-6C6D-CBCB8F5C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8E741-222A-A14E-9DDA-46065DDA7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10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C40ED-F66D-F18B-A240-D3970C54D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9CA3D-0E4F-B0AD-0654-B09A686C7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20440-2D31-77D1-95FF-DFF1F9020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1CB83-3B51-060B-A344-54892C67A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9DF655-A777-3B0B-8244-FF9A51F00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D2A929-DB74-3CD0-EDF8-BC410C60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34489-3448-D846-3AC0-CBC6E1AE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8EAEC-E81A-FE2E-24CF-3A4167C9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578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A992-0A45-F1DB-865A-5EFF7060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1B28D-4164-CE46-0EA0-C88ED33C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F4236-BC46-A991-5AB8-C81B8211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81840-08CB-93CC-2ECE-FB3CA86AC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771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BC05C-0B84-EF79-E7E6-2DCBD2A25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5BB1C4-B677-9537-96BB-FB83952BB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FD641-5D34-CCBC-A359-BE1DB6BC6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44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6EA16-E464-7E30-405C-90B8C019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25CA8-4C8B-0E3A-55AF-2737223FE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C6F92-E6E5-1F92-A201-BDC699F22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3E56F-50D1-14CC-31C4-15BACDDD6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C16E9-7C21-916D-98A9-26C196B3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3FF1B-468C-D9D9-EB54-AD355056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49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F036-DBBB-589D-E4A7-A65AF5321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16C1B-DD2A-E32E-9522-990AA5CD9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8DFD3-4DC5-8A04-7537-D8FB0E098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558AF-3B60-9301-B2E5-CC85283B8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CAAA5-7747-A33D-8211-56CBB946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D734A-472D-C85D-0BB5-1A87020D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05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DDCB-D8C7-9865-B7E8-8DC35929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EE445-9911-B4EB-A4EE-85B614A9A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9E50A-88BA-1A3C-1177-D1CABEBA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7F6EC-2C8B-E59C-93BF-508626C53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5A977-C3C7-152A-F987-04D4DBA7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963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F2C1C-572A-23EB-6DB5-82EB73D3E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FE7CD-8AC8-3A1B-9D66-E59F767CE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F5E4E-0D09-5FD6-F98E-57DF8948C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E6AF-FDBA-CB44-6811-ECA63791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DB6EE-F07E-9DA0-EDD0-C8B0FB9D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7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E1862-5C32-9291-AEA8-730B91730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59500-2DA5-437C-4BCC-C060306FE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D25A7-547B-9CCB-757B-0B6EC6D80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AA84B-5BD0-4D8A-891E-F4736A883A71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00635-A433-D533-4468-7D9E6DB16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7246B-C7AC-FE2D-1FE5-C37FC8ED1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631DC-2FBF-47A4-8F4B-DFABB964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40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01D8E-61AA-857D-89A8-D73AF7FBA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PA Week 9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89262-8E0B-593E-98C5-1B1C625DC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861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53EA-7549-FB7F-2258-B94776802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DEE1F-560D-9AAE-F824-3BB37A17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fr-CH" dirty="0" err="1"/>
              <a:t>Optimized</a:t>
            </a:r>
            <a:r>
              <a:rPr lang="fr-CH" dirty="0"/>
              <a:t> </a:t>
            </a:r>
            <a:r>
              <a:rPr lang="fr-CH" dirty="0" err="1"/>
              <a:t>Fitting</a:t>
            </a:r>
            <a:endParaRPr lang="fr-CH" dirty="0"/>
          </a:p>
          <a:p>
            <a:pPr marL="514350" indent="-514350">
              <a:buAutoNum type="arabicPeriod"/>
            </a:pPr>
            <a:r>
              <a:rPr lang="fr-CH" dirty="0" err="1"/>
              <a:t>Parameters</a:t>
            </a:r>
            <a:r>
              <a:rPr lang="fr-CH" dirty="0"/>
              <a:t> values</a:t>
            </a:r>
          </a:p>
          <a:p>
            <a:pPr marL="514350" indent="-514350">
              <a:buAutoNum type="arabicPeriod"/>
            </a:pPr>
            <a:r>
              <a:rPr lang="fr-CH" dirty="0" err="1"/>
              <a:t>Outliers</a:t>
            </a:r>
            <a:endParaRPr lang="fr-CH" dirty="0"/>
          </a:p>
          <a:p>
            <a:pPr marL="514350" indent="-514350">
              <a:buAutoNum type="arabicPeriod"/>
            </a:pPr>
            <a:r>
              <a:rPr lang="fr-CH" dirty="0" err="1"/>
              <a:t>Parameters</a:t>
            </a:r>
            <a:r>
              <a:rPr lang="fr-CH" dirty="0"/>
              <a:t> and pressure </a:t>
            </a:r>
            <a:r>
              <a:rPr lang="fr-CH" dirty="0" err="1"/>
              <a:t>correlation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815484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390D-6C35-910E-B6C1-EA9103EB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1. </a:t>
            </a:r>
            <a:r>
              <a:rPr lang="fr-CH" dirty="0" err="1"/>
              <a:t>Optimized</a:t>
            </a:r>
            <a:r>
              <a:rPr lang="fr-CH" dirty="0"/>
              <a:t> </a:t>
            </a:r>
            <a:r>
              <a:rPr lang="fr-CH" dirty="0" err="1"/>
              <a:t>fitting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ED55A2-4A92-64BB-709C-1BD555602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4047" y="2148423"/>
            <a:ext cx="7563906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75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78AE-AD08-3946-D62F-87E9A2BE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2. </a:t>
            </a:r>
            <a:r>
              <a:rPr lang="fr-CH" dirty="0" err="1"/>
              <a:t>Parameters</a:t>
            </a:r>
            <a:r>
              <a:rPr lang="fr-CH" dirty="0"/>
              <a:t> values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BE01F-EFE8-AC19-3031-E0C29E9D9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8DF772-88DD-3713-6776-8FAB78EF8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35953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921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2D3B-8804-D9D3-0266-94DBC103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10AF1-8222-0D81-695A-66E1C2C05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D772214-7F6F-43F0-ABF4-37A883D65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49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1A08-B1F4-0CE5-FDAD-3FFAADB2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C700A-0AAF-69E9-7ECE-FCD3132A9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49446CC-5853-761B-BAA4-7E3FA5C0F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176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97BE-97EA-48AD-2EA4-6D9B2DAA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D6E0-6BE4-5CD3-3368-AE92E54D5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5DBA330-E1C0-806D-3B30-51C98AADB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324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6049-DB91-6F67-B72E-292B253D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F93B0-9868-0EBE-BB93-BAD4FFD05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6B162-1587-1D3B-144F-14CBA7B06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1095375"/>
            <a:ext cx="94202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61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FEFD-3F2C-D8C3-7C1C-509C3898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8FE58-6E85-3FA4-8821-6BC3A48C2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2DB5A37-C307-3309-7D25-9D7AC0B8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0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5BDC-20B0-286F-1066-DE0B281F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C6C98-F8F3-E179-C0C4-10103F23A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F3E4C22-50D6-2515-DBFE-59E561F9D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46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A23B0-CE59-9206-CC23-99BF05DD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1EB48-E2E1-39D2-3FCE-633099367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BE63A78-0030-FAC4-D032-34F19320F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098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48D2C-D417-A528-0461-FBFC53A4A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97EA3-7F6E-1F75-7AA6-77D674452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684EC52-C37E-3498-9733-A258EF765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539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CFA8-3850-DE21-3D2B-DCDA5B1E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0EFDE-4D68-D6FB-6B93-3AF8B8C8E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6EF2F96-6E77-65B5-D8DC-A9DEA0BD3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568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3D19-2695-9F16-2C58-A28365FE7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7AA4C-9D06-749A-08D4-7A66BD173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0DA4A83-DD8C-DA5A-8075-D0C9F07F1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391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F422-938E-E4AC-D3C2-856FF689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38159-7D78-CCA6-4206-4EE264192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E042968-D01B-C9E9-193C-B887C72C0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702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9F57-3B75-C0A3-791F-1BAD107F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A3332-7477-D7E1-49B7-27B898812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4BF36DB7-E3DB-BB33-4F7B-A43CB8D84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25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FD53-CE4F-59A9-83E3-38F565DB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32B0B-039F-8CA6-BA0F-EA00EE9D2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966B569B-75DC-2552-913C-8D8F243A5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1095375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905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41B9-FF0C-1CE2-049A-E3EEBFDA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3. </a:t>
            </a:r>
            <a:r>
              <a:rPr lang="fr-CH" dirty="0" err="1"/>
              <a:t>Outliers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A4C31-C493-3D97-04E4-7071A3CFC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Unique nozzles flagged: 508/1280 (39.69%)</a:t>
            </a:r>
          </a:p>
          <a:p>
            <a:pPr marL="0" indent="0">
              <a:buNone/>
            </a:pPr>
            <a:r>
              <a:rPr lang="en-GB" dirty="0"/>
              <a:t>Unique (nozzle × pressure) signals flagged: 3557/121600 (2.93%)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6A257137-B267-8C0E-544F-C9C4573D6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387" y="2859650"/>
            <a:ext cx="75152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106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2717C-8E69-92FA-42AC-7468ADDB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C3F7C-3AA1-E891-5DEB-D16EBE252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FA625034-D389-A56A-B426-7187B762B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15095" cy="292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8187D07F-30AD-DDE3-4EC7-C456D8F8E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182" y="29036"/>
            <a:ext cx="5648467" cy="279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2AA97169-1D7F-535E-A3B2-4E9352CF8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568221"/>
            <a:ext cx="5915096" cy="292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288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6BA64-3BDE-E1B9-8584-083D845A4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4.Parameters and pressure </a:t>
            </a:r>
            <a:r>
              <a:rPr lang="fr-CH" dirty="0" err="1"/>
              <a:t>correlation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A8492-17D1-8D78-FB26-CD6E2FF04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 dirty="0"/>
              <a:t>Inputs : 6 </a:t>
            </a:r>
            <a:r>
              <a:rPr lang="fr-CH" dirty="0" err="1"/>
              <a:t>parameters</a:t>
            </a:r>
            <a:r>
              <a:rPr lang="fr-CH" dirty="0"/>
              <a:t> (A, </a:t>
            </a:r>
            <a:r>
              <a:rPr lang="el-GR" dirty="0"/>
              <a:t>τ, </a:t>
            </a:r>
            <a:r>
              <a:rPr lang="fr-CH" dirty="0"/>
              <a:t>f, </a:t>
            </a:r>
            <a:r>
              <a:rPr lang="el-GR" dirty="0"/>
              <a:t>φ, </a:t>
            </a:r>
            <a:r>
              <a:rPr lang="fr-CH" dirty="0"/>
              <a:t>C, D)</a:t>
            </a:r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r>
              <a:rPr lang="en-GB" dirty="0" err="1"/>
              <a:t>GroupShuffleSplit</a:t>
            </a:r>
            <a:r>
              <a:rPr lang="en-GB" dirty="0"/>
              <a:t> (80/20) by nozzle:</a:t>
            </a:r>
          </a:p>
          <a:p>
            <a:r>
              <a:rPr lang="en-GB" dirty="0"/>
              <a:t>1,024 nozzles for training,</a:t>
            </a:r>
          </a:p>
          <a:p>
            <a:r>
              <a:rPr lang="en-GB" dirty="0"/>
              <a:t>256 nozzles for testing.</a:t>
            </a:r>
          </a:p>
          <a:p>
            <a:pPr marL="0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372959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02A4-71D3-44F8-531C-637F4336C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5B3CD-8133-FAD3-C527-64480EB4D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Ridge Regression (linear baseline)</a:t>
            </a:r>
          </a:p>
          <a:p>
            <a:pPr lvl="1"/>
            <a:r>
              <a:rPr lang="en-GB" dirty="0"/>
              <a:t>With median imputation + robust scaling</a:t>
            </a:r>
          </a:p>
          <a:p>
            <a:pPr lvl="1"/>
            <a:r>
              <a:rPr lang="en-GB" dirty="0"/>
              <a:t>Hyperparameter tuned: regularization strength (</a:t>
            </a:r>
            <a:r>
              <a:rPr lang="el-GR" dirty="0"/>
              <a:t>α)</a:t>
            </a:r>
          </a:p>
          <a:p>
            <a:r>
              <a:rPr lang="en-GB" dirty="0" err="1"/>
              <a:t>HistGradientBoostingRegressor</a:t>
            </a:r>
            <a:r>
              <a:rPr lang="en-GB" dirty="0"/>
              <a:t> (HGB, nonlinear tree-based)</a:t>
            </a:r>
          </a:p>
          <a:p>
            <a:pPr lvl="1"/>
            <a:r>
              <a:rPr lang="en-GB" dirty="0"/>
              <a:t>Automatically handles nonlinearities and interactions</a:t>
            </a:r>
          </a:p>
          <a:p>
            <a:pPr lvl="1"/>
            <a:r>
              <a:rPr lang="en-GB" dirty="0"/>
              <a:t>Hyperparameters tuned via random search:</a:t>
            </a:r>
          </a:p>
          <a:p>
            <a:pPr lvl="2"/>
            <a:r>
              <a:rPr lang="en-GB" dirty="0"/>
              <a:t>learning rate, max depth, leaf size, L2 regularization.</a:t>
            </a:r>
          </a:p>
          <a:p>
            <a:r>
              <a:rPr lang="en-GB" dirty="0"/>
              <a:t>Both were tuned using grouped cross-validation (</a:t>
            </a:r>
            <a:r>
              <a:rPr lang="en-GB" dirty="0" err="1"/>
              <a:t>GroupKFold</a:t>
            </a:r>
            <a:r>
              <a:rPr lang="en-GB" dirty="0"/>
              <a:t>) on a subset of training nozzles.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1302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503D-EBA3-CBFB-2630-AF789791D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Evaluation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19BDA7-649C-3376-3BFB-DFADFE5C8C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3369913"/>
              </p:ext>
            </p:extLst>
          </p:nvPr>
        </p:nvGraphicFramePr>
        <p:xfrm>
          <a:off x="756920" y="196596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0098192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808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487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MAE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Mean absolute error (mBar)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851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RMSE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Root mean squared error (mBar)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826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R²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Proportion of variance explained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38198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C25C8B-6A21-C1B9-9C62-F70408988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450719"/>
              </p:ext>
            </p:extLst>
          </p:nvPr>
        </p:nvGraphicFramePr>
        <p:xfrm>
          <a:off x="756920" y="3838734"/>
          <a:ext cx="10515600" cy="1097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9275581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199992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150301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6946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MAE (mBar)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RMSE (mBar)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33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9.35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10.85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0.53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5.91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7.51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90981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42DE0B-7DE3-3F05-F765-AC5704D70B1C}"/>
              </a:ext>
            </a:extLst>
          </p:cNvPr>
          <p:cNvSpPr txBox="1"/>
          <p:nvPr/>
        </p:nvSpPr>
        <p:spPr>
          <a:xfrm>
            <a:off x="797560" y="5577046"/>
            <a:ext cx="6381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HGB </a:t>
            </a:r>
            <a:r>
              <a:rPr lang="fr-CH" dirty="0" err="1"/>
              <a:t>explains</a:t>
            </a:r>
            <a:r>
              <a:rPr lang="fr-CH" dirty="0"/>
              <a:t> 53% of the variance in pressure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7875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B482-6F54-CEAB-36D2-AA2FBBB4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Plots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651E4-ECCD-4B19-4CA3-3BD1CE355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E949AC0-5D9C-8D5F-EBBE-31F1079C6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83" y="1843088"/>
            <a:ext cx="54673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4028B26A-3B08-7487-7098-66681C0C2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550" y="1690688"/>
            <a:ext cx="54673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711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D741-D187-4932-8D34-5FF999E3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18AE5-DC9F-4E6E-481A-4CF93952F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9710DBE7-45F1-43A4-F325-EB44CB66C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28" y="1690688"/>
            <a:ext cx="54673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71233002-B3AA-1312-9909-67892B8D5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978" y="1825625"/>
            <a:ext cx="54673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119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198F6-9B93-A6B6-88E2-03747D6A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44F8E-297F-12AB-C81A-6D0ABFC28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51843C7A-D4D8-C06B-BEB1-35D540FA2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66" y="1690688"/>
            <a:ext cx="52197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FCAF4BDE-3D75-0ACE-0671-8B1F36B4C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7309" y="1759079"/>
            <a:ext cx="522922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129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3F7B-B6BC-465C-64D4-11C628FC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Observations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28409-3F60-A070-A611-FAE2904DD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Ridge:</a:t>
            </a:r>
          </a:p>
          <a:p>
            <a:r>
              <a:rPr lang="en-GB" dirty="0"/>
              <a:t>Predictions almost flat around −70 </a:t>
            </a:r>
            <a:r>
              <a:rPr lang="en-GB" dirty="0" err="1"/>
              <a:t>mBar</a:t>
            </a:r>
            <a:r>
              <a:rPr lang="en-GB" dirty="0"/>
              <a:t> → no linear trend.</a:t>
            </a:r>
          </a:p>
          <a:p>
            <a:r>
              <a:rPr lang="en-GB" dirty="0"/>
              <a:t>Confirms little to no linear correlation.</a:t>
            </a:r>
          </a:p>
          <a:p>
            <a:pPr marL="0" indent="0">
              <a:buNone/>
            </a:pPr>
            <a:r>
              <a:rPr lang="en-GB" b="1" dirty="0"/>
              <a:t>HGB:</a:t>
            </a:r>
          </a:p>
          <a:p>
            <a:r>
              <a:rPr lang="en-GB" dirty="0"/>
              <a:t>Predictions follow the true pressure trend much better. </a:t>
            </a:r>
          </a:p>
          <a:p>
            <a:r>
              <a:rPr lang="en-GB" dirty="0"/>
              <a:t>Calibration curve lies almost perfectly on the 1:1 line → well-calibrated model.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1921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A3B6-409B-4072-107C-A4362362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Correlation</a:t>
            </a:r>
            <a:r>
              <a:rPr lang="fr-CH" dirty="0"/>
              <a:t> matrix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B99BC-3B6A-4705-97EE-4E9C83087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3B44FCB3-ABF9-94DA-5D70-2865A1D4E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396" y="1339850"/>
            <a:ext cx="5876925" cy="51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414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82C6-8F48-8594-DFD9-EDB253914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Correlation</a:t>
            </a:r>
            <a:r>
              <a:rPr lang="fr-CH" dirty="0"/>
              <a:t> matrix </a:t>
            </a:r>
            <a:r>
              <a:rPr lang="fr-CH" dirty="0" err="1"/>
              <a:t>interpretation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225CE-EBC8-22C4-D782-055AD531B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Pearson correlation matrix showed:</a:t>
            </a:r>
          </a:p>
          <a:p>
            <a:pPr lvl="1"/>
            <a:r>
              <a:rPr lang="en-GB" dirty="0"/>
              <a:t>Very weak direct correlation between each feature and pressure (|r| &lt; 0.15)</a:t>
            </a:r>
          </a:p>
          <a:p>
            <a:pPr lvl="1"/>
            <a:r>
              <a:rPr lang="en-GB" dirty="0"/>
              <a:t>Strong internal correlations among φ, C, and D (|r| ≈ 0.8–0.9)</a:t>
            </a:r>
          </a:p>
          <a:p>
            <a:pPr marL="0" indent="0">
              <a:buNone/>
            </a:pPr>
            <a:r>
              <a:rPr lang="en-GB" dirty="0"/>
              <a:t>This explains why the linear model failed: no simple linear mapping exists.</a:t>
            </a:r>
          </a:p>
          <a:p>
            <a:pPr marL="0" indent="0">
              <a:buNone/>
            </a:pPr>
            <a:r>
              <a:rPr lang="en-GB" dirty="0"/>
              <a:t>HGB succeeded because it can model nonlinear interactions between correlated variables.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0800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316</Words>
  <Application>Microsoft Office PowerPoint</Application>
  <PresentationFormat>Widescreen</PresentationFormat>
  <Paragraphs>63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PA Week 9</vt:lpstr>
      <vt:lpstr>Overview</vt:lpstr>
      <vt:lpstr>1. Optimized fitting</vt:lpstr>
      <vt:lpstr>2. Parameters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Outliers</vt:lpstr>
      <vt:lpstr>PowerPoint Presentation</vt:lpstr>
      <vt:lpstr>4.Parameters and pressure correlation</vt:lpstr>
      <vt:lpstr>Models</vt:lpstr>
      <vt:lpstr>Evaluation</vt:lpstr>
      <vt:lpstr>Plots</vt:lpstr>
      <vt:lpstr>PowerPoint Presentation</vt:lpstr>
      <vt:lpstr>PowerPoint Presentation</vt:lpstr>
      <vt:lpstr>Observations</vt:lpstr>
      <vt:lpstr>Correlation matrix</vt:lpstr>
      <vt:lpstr>Correlation matrix 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Atallah Anthony</dc:creator>
  <cp:lastModifiedBy>Atallah Anthony</cp:lastModifiedBy>
  <cp:revision>5</cp:revision>
  <dcterms:created xsi:type="dcterms:W3CDTF">2025-11-08T18:02:06Z</dcterms:created>
  <dcterms:modified xsi:type="dcterms:W3CDTF">2025-11-08T18:56:42Z</dcterms:modified>
</cp:coreProperties>
</file>