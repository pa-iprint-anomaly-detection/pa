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77" r:id="rId5"/>
    <p:sldId id="278" r:id="rId6"/>
    <p:sldId id="279" r:id="rId7"/>
    <p:sldId id="268" r:id="rId8"/>
    <p:sldId id="280" r:id="rId9"/>
    <p:sldId id="270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CE43-384E-B816-6DC1-686AB9145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6F4FA3-4B6F-BCB1-D769-9999FA966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CEBB-1FE1-EEC2-58C9-FC390B8D2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45F1E-6254-DEE2-5406-EEF15C0A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9D7DF-338B-1124-BBA3-664223243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35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66D02-9EA4-3A4F-9365-231DD9E0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76607-8E51-ACEE-670F-CDCEA86B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2F6D1-4453-AE24-5A27-F7243D5A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85D08-1F88-1BA5-EC3A-B1E41F1D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5DAEC-5246-188A-A7FC-39788654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9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B60E-2B4B-0DAD-4E5D-348DC19A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68F83-B0DC-0623-D6EE-265C7CBEB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B12BD-D7D0-DE55-8AFD-5C6BE4DD8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7A08F-6192-6DF4-FF1E-B5CDE5902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1B755-FFCB-BB06-3739-53DEDF44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77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D346D-3D6B-96BE-B659-7A6AB2E8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49EED-76FE-7618-EDB2-94E1219DB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80C0E-4265-D43F-CB00-636234F3E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569F4-1672-A460-63D4-F30B6291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7F8AD-332E-B4B4-D2AF-49977CB29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52AEE-57EB-E917-721B-9BA9ABBE3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49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4726-F03E-3C68-4872-7F05D90B7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47829-8BD6-0487-3E5F-655048148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B9453-77C0-E9F7-BAA1-9471AE893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C01A0-F32B-513D-D2CF-ADA7D1E08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C363E0-BA42-EF0A-5DB1-7F413D1C06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2F51A6-2D55-0D09-8FF3-915FAD204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FE1919-52F3-30D1-0299-EBEF9CB9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33A39-5BAE-4E71-8647-B52D1F97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18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85F8-11AB-4CE5-0826-12B9C796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FE264-C76F-0BF5-838D-6A3FA4B8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C2F2A-C166-4DEA-5D99-D89E65A5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6A86F-1C09-5F42-282B-26EF890E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5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F1811-B3C5-0DE8-B751-476A1078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C6645-0570-1325-80A9-BC13E28E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B83CB-88AD-54C6-D753-65D654DF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724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41531-2A40-6A74-FD68-F098730B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D90C6-6406-7CDC-BF8A-C92B2E268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DFA2C-8C70-84FD-E10E-9F0DB18D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1A119-E240-E258-B8BB-50A845FD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0D9F9-49D4-E9E3-292A-596FC8D1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FD42E-F491-92A5-8F95-727E5AFD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12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BC06-C413-1790-F0E1-26C80E62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79553-5B43-D97F-64E5-CC96B10A7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4632C-BB05-7A74-5EBA-6889E57C6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E536A-C8D8-1D99-C5D5-4A13C1B5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B6E53-3470-A95B-07DE-D6F2B6F4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31562-006E-37EF-1F81-25E73128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16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8CB7-DFFF-01E9-903B-DC7EB843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0C6ECC-F20C-C0D8-F2A6-B46D85D26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776DA-C770-7A52-EC13-E9CE5F8C9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3DB37-1F6E-FB10-5D1F-5A46C165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6286B-3F7D-C32A-ABFD-3F760426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55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33F04-1978-B4E2-EBE8-B0D563DBB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71C38-8179-71FF-4E89-16520E802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D6D81-E653-7CC2-B429-1D326EA2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22DEE-6F80-51F4-6943-26DB0BA1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A6EC2-F173-4E80-EF94-CD32101C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72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1D9DB-5D94-CA94-F0C7-702A0BA95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15083-7171-80AB-67E9-869629E04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1E051-BC1F-BDF3-2D34-E99B2958B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B3A38-D541-49F5-AE13-3CA5CDA9C5F0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15EC3-2556-111B-FB4C-6D1B40C91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AD5F-1DE6-6317-BBF2-8744E2158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FB499-417E-4065-8653-29009D3498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59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D0A7-C16F-90D6-82C7-2CE8F6C303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PA </a:t>
            </a:r>
            <a:r>
              <a:rPr lang="fr-CH" dirty="0" err="1"/>
              <a:t>week</a:t>
            </a:r>
            <a:r>
              <a:rPr lang="fr-CH" dirty="0"/>
              <a:t> 8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A1C34-DADE-7FF8-C47E-A8DFAD1080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826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E203-BA96-E691-A21F-B8B2DE43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FEDE-C0D0-6DF9-CF79-070594E5F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fr-CH" dirty="0"/>
              <a:t>Fit </a:t>
            </a:r>
            <a:r>
              <a:rPr lang="fr-CH" dirty="0" err="1"/>
              <a:t>optimization</a:t>
            </a:r>
            <a:endParaRPr lang="fr-CH" dirty="0"/>
          </a:p>
          <a:p>
            <a:pPr marL="514350" indent="-514350">
              <a:buAutoNum type="arabicPeriod"/>
            </a:pPr>
            <a:r>
              <a:rPr lang="fr-CH" dirty="0" err="1"/>
              <a:t>Features</a:t>
            </a:r>
            <a:r>
              <a:rPr lang="fr-CH" dirty="0"/>
              <a:t> vs pressure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12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A262-30BE-C458-4EF7-09C3099E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1. </a:t>
            </a:r>
            <a:r>
              <a:rPr lang="fr-CH" dirty="0" err="1"/>
              <a:t>Modified</a:t>
            </a:r>
            <a:r>
              <a:rPr lang="fr-CH" dirty="0"/>
              <a:t> </a:t>
            </a:r>
            <a:r>
              <a:rPr lang="fr-CH" dirty="0" err="1"/>
              <a:t>equation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87EBABD-DEEA-4503-8ABC-8453F57171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H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CH" b="0" i="1" smtClean="0">
                              <a:latin typeface="Cambria Math" panose="02040503050406030204" pitchFamily="18" charset="0"/>
                            </a:rPr>
                            <m:t>𝑝𝑖𝑒𝑧𝑜</m:t>
                          </m:r>
                        </m:sub>
                      </m:sSub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CH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    ∙   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fr-CH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CH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fr-CH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H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CH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</a:rPr>
                                <m:t>τ</m:t>
                              </m:r>
                            </m:den>
                          </m:f>
                        </m:sup>
                      </m:sSup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fr-CH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unc>
                        <m:funcPr>
                          <m:ctrlPr>
                            <a:rPr lang="fr-CH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CH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CH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𝑓𝑡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ϕ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amplitude - decay term - oscillatory term – compensate for shift and drift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87EBABD-DEEA-4503-8ABC-8453F57171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70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AA5B7-7A65-FAA6-E87A-EB6D6140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1. </a:t>
            </a:r>
            <a:r>
              <a:rPr lang="fr-CH" dirty="0" err="1"/>
              <a:t>Modified</a:t>
            </a:r>
            <a:r>
              <a:rPr lang="fr-CH" dirty="0"/>
              <a:t> </a:t>
            </a:r>
            <a:r>
              <a:rPr lang="fr-CH" dirty="0" err="1"/>
              <a:t>equation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8B55-5C2A-0B2E-AE16-71EB483F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FCD81E2D-6023-0604-3ADE-1B7F3C94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492" y="1612305"/>
            <a:ext cx="8455016" cy="473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7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D365-CDE1-053A-6A67-520D8C48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1. </a:t>
            </a:r>
            <a:r>
              <a:rPr lang="fr-CH" dirty="0" err="1"/>
              <a:t>Modified</a:t>
            </a:r>
            <a:r>
              <a:rPr lang="fr-CH" dirty="0"/>
              <a:t> </a:t>
            </a:r>
            <a:r>
              <a:rPr lang="fr-CH" dirty="0" err="1"/>
              <a:t>equation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01215D-96F0-9EC5-2F67-C00EFB1D5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198" y="2218210"/>
            <a:ext cx="8133604" cy="3566167"/>
          </a:xfrm>
        </p:spPr>
      </p:pic>
    </p:spTree>
    <p:extLst>
      <p:ext uri="{BB962C8B-B14F-4D97-AF65-F5344CB8AC3E}">
        <p14:creationId xmlns:p14="http://schemas.microsoft.com/office/powerpoint/2010/main" val="219879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87E5-C5BB-045F-9068-938F83BF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1. </a:t>
            </a:r>
            <a:r>
              <a:rPr lang="fr-CH" dirty="0" err="1"/>
              <a:t>Modified</a:t>
            </a:r>
            <a:r>
              <a:rPr lang="fr-CH" dirty="0"/>
              <a:t> </a:t>
            </a:r>
            <a:r>
              <a:rPr lang="fr-CH" dirty="0" err="1"/>
              <a:t>equation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5E0B-588D-0A2B-4269-A292FEC7E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656288-433C-24D1-F663-A21EEEA6B4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303"/>
          <a:stretch>
            <a:fillRect/>
          </a:stretch>
        </p:blipFill>
        <p:spPr>
          <a:xfrm>
            <a:off x="236037" y="1387048"/>
            <a:ext cx="5695698" cy="3007971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145A104-C1BD-9314-7C22-F446EE77A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147" y="3510795"/>
            <a:ext cx="6031241" cy="298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26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A675-D324-302C-8B6E-531EBAA7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1. </a:t>
            </a:r>
            <a:r>
              <a:rPr lang="fr-CH" dirty="0" err="1"/>
              <a:t>Parameters</a:t>
            </a:r>
            <a:r>
              <a:rPr lang="fr-CH" dirty="0"/>
              <a:t> estimation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87B4A5-EA22-A4CB-CDB0-543F28669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126300"/>
              </p:ext>
            </p:extLst>
          </p:nvPr>
        </p:nvGraphicFramePr>
        <p:xfrm>
          <a:off x="838200" y="235537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495834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618149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7432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480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Baseline (C, D)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Remove shift/drift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831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Frequency (f₀)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ysClr val="windowText" lastClr="000000"/>
                          </a:solidFill>
                        </a:rPr>
                        <a:t>Estimate dominant oscillation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FFT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11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Amplitude (A₀)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ysClr val="windowText" lastClr="000000"/>
                          </a:solidFill>
                        </a:rPr>
                        <a:t>Estimate oscillation 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0.7*range of detrended 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6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Decay (</a:t>
                      </a:r>
                      <a:r>
                        <a:rPr lang="el-GR" b="1" dirty="0"/>
                        <a:t>τ₀)</a:t>
                      </a:r>
                      <a:endParaRPr lang="el-G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ysClr val="windowText" lastClr="000000"/>
                          </a:solidFill>
                        </a:rPr>
                        <a:t>Estimate damping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Log-envelope of peaks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544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Phase (</a:t>
                      </a:r>
                      <a:r>
                        <a:rPr lang="el-GR" b="1" dirty="0"/>
                        <a:t>φ₀)</a:t>
                      </a:r>
                      <a:endParaRPr lang="el-G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Align sine to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Slope-based 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26764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A238754F-A125-8259-D479-326926CB7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846" y="1594346"/>
            <a:ext cx="4505954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52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C3DB-2AD0-6B3B-90DE-2A3D3339D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1. </a:t>
            </a:r>
            <a:r>
              <a:rPr lang="fr-CH" dirty="0" err="1"/>
              <a:t>Fitting</a:t>
            </a:r>
            <a:r>
              <a:rPr lang="fr-CH" dirty="0"/>
              <a:t> </a:t>
            </a:r>
            <a:r>
              <a:rPr lang="fr-CH" dirty="0" err="1"/>
              <a:t>algorithm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CEBD9-0E04-3769-72A6-1324D5D99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 dirty="0" err="1"/>
              <a:t>Switched</a:t>
            </a:r>
            <a:r>
              <a:rPr lang="fr-CH" dirty="0"/>
              <a:t> </a:t>
            </a:r>
            <a:r>
              <a:rPr lang="fr-CH" dirty="0" err="1"/>
              <a:t>from</a:t>
            </a:r>
            <a:r>
              <a:rPr lang="fr-CH" dirty="0"/>
              <a:t>:</a:t>
            </a:r>
          </a:p>
          <a:p>
            <a:pPr marL="0" indent="0">
              <a:buNone/>
            </a:pPr>
            <a:r>
              <a:rPr lang="fr-CH" dirty="0" err="1"/>
              <a:t>Scipy.optimize.curve_fit</a:t>
            </a: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r>
              <a:rPr lang="fr-CH" dirty="0"/>
              <a:t>To:</a:t>
            </a:r>
          </a:p>
          <a:p>
            <a:pPr marL="0" indent="0">
              <a:buNone/>
            </a:pPr>
            <a:r>
              <a:rPr lang="fr-CH" dirty="0" err="1"/>
              <a:t>Scipy.optimize.least_squares</a:t>
            </a:r>
            <a:r>
              <a:rPr lang="fr-CH" dirty="0"/>
              <a:t> </a:t>
            </a:r>
            <a:r>
              <a:rPr lang="fr-CH" dirty="0" err="1"/>
              <a:t>with</a:t>
            </a:r>
            <a:r>
              <a:rPr lang="fr-CH" dirty="0"/>
              <a:t> </a:t>
            </a:r>
            <a:r>
              <a:rPr lang="fr-CH" dirty="0" err="1"/>
              <a:t>loss</a:t>
            </a:r>
            <a:r>
              <a:rPr lang="fr-CH" dirty="0"/>
              <a:t> = 'soft_l1'</a:t>
            </a:r>
          </a:p>
          <a:p>
            <a:pPr marL="0" indent="0">
              <a:buNone/>
            </a:pPr>
            <a:endParaRPr lang="fr-CH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24248-DB3C-ADE1-5655-9D031D3E7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368" y="2819315"/>
            <a:ext cx="1800476" cy="60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6506AD-BF49-DCC7-1B26-0E8DB36E8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893" y="4998579"/>
            <a:ext cx="2505425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25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CC09-8AD0-273D-4C43-587217635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1. </a:t>
            </a:r>
            <a:r>
              <a:rPr lang="fr-CH" dirty="0" err="1"/>
              <a:t>Windowed</a:t>
            </a:r>
            <a:r>
              <a:rPr lang="fr-CH" dirty="0"/>
              <a:t> </a:t>
            </a:r>
            <a:r>
              <a:rPr lang="fr-CH" dirty="0" err="1"/>
              <a:t>fitting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6AA5A-7782-CC5F-8FDB-7A4D3F5BE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CH" dirty="0"/>
              <a:t> </a:t>
            </a:r>
            <a:r>
              <a:rPr lang="fr-CH" dirty="0" err="1"/>
              <a:t>windows</a:t>
            </a:r>
            <a:r>
              <a:rPr lang="fr-CH" dirty="0"/>
              <a:t> per signal of 89 </a:t>
            </a:r>
            <a:r>
              <a:rPr lang="fr-CH" dirty="0" err="1"/>
              <a:t>samples</a:t>
            </a:r>
            <a:endParaRPr lang="fr-CH" dirty="0"/>
          </a:p>
          <a:p>
            <a:pPr marL="0" indent="0">
              <a:buNone/>
            </a:pPr>
            <a:r>
              <a:rPr lang="fr-CH" dirty="0"/>
              <a:t>50% </a:t>
            </a:r>
            <a:r>
              <a:rPr lang="fr-CH" dirty="0" err="1"/>
              <a:t>overlap</a:t>
            </a:r>
            <a:endParaRPr lang="fr-CH" dirty="0"/>
          </a:p>
          <a:p>
            <a:pPr>
              <a:buFont typeface="Wingdings" panose="05000000000000000000" pitchFamily="2" charset="2"/>
              <a:buChar char="è"/>
            </a:pPr>
            <a:r>
              <a:rPr lang="fr-CH" dirty="0"/>
              <a:t>Distinct </a:t>
            </a:r>
            <a:r>
              <a:rPr lang="fr-CH" dirty="0" err="1"/>
              <a:t>parameters</a:t>
            </a:r>
            <a:r>
              <a:rPr lang="fr-CH" dirty="0"/>
              <a:t> for </a:t>
            </a:r>
            <a:r>
              <a:rPr lang="fr-CH" dirty="0" err="1"/>
              <a:t>each</a:t>
            </a:r>
            <a:r>
              <a:rPr lang="fr-CH" dirty="0"/>
              <a:t> </a:t>
            </a:r>
            <a:r>
              <a:rPr lang="fr-CH" dirty="0" err="1"/>
              <a:t>window</a:t>
            </a:r>
            <a:endParaRPr lang="fr-CH" dirty="0"/>
          </a:p>
          <a:p>
            <a:pPr>
              <a:buFont typeface="Wingdings" panose="05000000000000000000" pitchFamily="2" charset="2"/>
              <a:buChar char="è"/>
            </a:pPr>
            <a:r>
              <a:rPr lang="fr-CH" dirty="0" err="1"/>
              <a:t>Specified</a:t>
            </a:r>
            <a:r>
              <a:rPr lang="fr-CH" dirty="0"/>
              <a:t> </a:t>
            </a:r>
            <a:r>
              <a:rPr lang="fr-CH" dirty="0" err="1"/>
              <a:t>limits</a:t>
            </a:r>
            <a:r>
              <a:rPr lang="fr-CH" dirty="0"/>
              <a:t> for </a:t>
            </a:r>
            <a:r>
              <a:rPr lang="fr-CH" dirty="0" err="1"/>
              <a:t>parameter</a:t>
            </a:r>
            <a:r>
              <a:rPr lang="fr-CH" dirty="0"/>
              <a:t> jumps </a:t>
            </a:r>
            <a:r>
              <a:rPr lang="fr-CH" dirty="0" err="1"/>
              <a:t>form</a:t>
            </a:r>
            <a:r>
              <a:rPr lang="fr-CH" dirty="0"/>
              <a:t> one </a:t>
            </a:r>
            <a:r>
              <a:rPr lang="fr-CH" dirty="0" err="1"/>
              <a:t>window</a:t>
            </a:r>
            <a:r>
              <a:rPr lang="fr-CH" dirty="0"/>
              <a:t> to the </a:t>
            </a:r>
            <a:r>
              <a:rPr lang="fr-CH" dirty="0" err="1"/>
              <a:t>other</a:t>
            </a:r>
            <a:endParaRPr lang="fr-CH" dirty="0"/>
          </a:p>
          <a:p>
            <a:pPr marL="0" indent="0">
              <a:buNone/>
            </a:pPr>
            <a:endParaRPr lang="fr-CH" dirty="0"/>
          </a:p>
          <a:p>
            <a:pPr>
              <a:buFont typeface="Wingdings" panose="05000000000000000000" pitchFamily="2" charset="2"/>
              <a:buChar char="è"/>
            </a:pPr>
            <a:endParaRPr lang="fr-CH" dirty="0"/>
          </a:p>
          <a:p>
            <a:pPr>
              <a:buFont typeface="Wingdings" panose="05000000000000000000" pitchFamily="2" charset="2"/>
              <a:buChar char="è"/>
            </a:pPr>
            <a:endParaRPr lang="fr-CH" dirty="0"/>
          </a:p>
          <a:p>
            <a:pPr>
              <a:buFont typeface="Wingdings" panose="05000000000000000000" pitchFamily="2" charset="2"/>
              <a:buChar char="è"/>
            </a:pPr>
            <a:endParaRPr lang="fr-CH" dirty="0"/>
          </a:p>
          <a:p>
            <a:pPr>
              <a:buFont typeface="Wingdings" panose="05000000000000000000" pitchFamily="2" charset="2"/>
              <a:buChar char="è"/>
            </a:pPr>
            <a:endParaRPr lang="fr-CH" dirty="0"/>
          </a:p>
          <a:p>
            <a:pPr marL="0" indent="0">
              <a:buNone/>
            </a:pPr>
            <a:r>
              <a:rPr lang="en-GB" dirty="0"/>
              <a:t>Weights = 1 / (NRMSE)^2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5DABBF-E351-C9F4-88B5-C2AA78409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427" t="65200" r="38383" b="12853"/>
          <a:stretch>
            <a:fillRect/>
          </a:stretch>
        </p:blipFill>
        <p:spPr>
          <a:xfrm>
            <a:off x="838200" y="5057546"/>
            <a:ext cx="1917290" cy="727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816D3-CE70-DE10-DA8E-441F1690F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53878"/>
            <a:ext cx="5201376" cy="409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4CCE30-68F6-1F45-EAFE-FD65851E7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63510"/>
            <a:ext cx="1476581" cy="676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AA5286-35D5-F964-B53A-96EB03C7E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809861"/>
            <a:ext cx="1781424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13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90D2B-8615-0982-FC4D-7A262ADE4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2. </a:t>
            </a:r>
            <a:r>
              <a:rPr lang="fr-CH" dirty="0" err="1"/>
              <a:t>Features</a:t>
            </a:r>
            <a:r>
              <a:rPr lang="fr-CH" dirty="0"/>
              <a:t> vs pressure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9822-9513-F05B-FD92-F0977FA64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H" dirty="0"/>
              <a:t>Notebook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849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193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Wingdings</vt:lpstr>
      <vt:lpstr>Office Theme</vt:lpstr>
      <vt:lpstr>PA week 8</vt:lpstr>
      <vt:lpstr>Overview</vt:lpstr>
      <vt:lpstr>1. Modified equation</vt:lpstr>
      <vt:lpstr>1. Modified equation</vt:lpstr>
      <vt:lpstr>1. Modified equation</vt:lpstr>
      <vt:lpstr>1. Modified equation</vt:lpstr>
      <vt:lpstr>1. Parameters estimation</vt:lpstr>
      <vt:lpstr>1. Fitting algorithm</vt:lpstr>
      <vt:lpstr>1. Windowed fitting</vt:lpstr>
      <vt:lpstr>2. Features vs pressure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Atallah Anthony</dc:creator>
  <cp:lastModifiedBy>Atallah Anthony</cp:lastModifiedBy>
  <cp:revision>5</cp:revision>
  <dcterms:created xsi:type="dcterms:W3CDTF">2025-11-04T12:57:01Z</dcterms:created>
  <dcterms:modified xsi:type="dcterms:W3CDTF">2025-11-04T14:36:01Z</dcterms:modified>
</cp:coreProperties>
</file>